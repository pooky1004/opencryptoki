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>
          <a:latin typeface="Calibri"/>
          <a:ea typeface="Malgun Gothic"/>
        </a:defRPr>
      </a:lvl1pPr>
    </p:titleStyle>
    <p:bodyStyle>
      <a:lvl1pPr>
        <a:defRPr sz="1800">
          <a:latin typeface="Calibri"/>
          <a:ea typeface="Malgun Gothic"/>
        </a:defRPr>
      </a:lvl1pPr>
    </p:bodyStyle>
    <p:otherStyle>
      <a:lvl1pPr>
        <a:defRPr sz="1800">
          <a:latin typeface="Calibri"/>
          <a:ea typeface="Malgun Gothic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33B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" name="spine"/>
          <p:cNvSpPr/>
          <p:nvPr/>
        </p:nvSpPr>
        <p:spPr>
          <a:xfrm>
            <a:off x="0" y="0"/>
            <a:ext cx="210000" cy="68580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4" name="blk"/>
          <p:cNvSpPr/>
          <p:nvPr/>
        </p:nvSpPr>
        <p:spPr>
          <a:xfrm>
            <a:off x="9592000" y="0"/>
            <a:ext cx="2600000" cy="6858000"/>
          </a:xfrm>
          <a:prstGeom prst="rect">
            <a:avLst/>
          </a:prstGeom>
          <a:solidFill>
            <a:srgbClr val="17324F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5" name="blkln"/>
          <p:cNvSpPr/>
          <p:nvPr/>
        </p:nvSpPr>
        <p:spPr>
          <a:xfrm>
            <a:off x="9592000" y="0"/>
            <a:ext cx="60000" cy="68580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6" name="tx"/>
          <p:cNvSpPr/>
          <p:nvPr/>
        </p:nvSpPr>
        <p:spPr>
          <a:xfrm>
            <a:off x="920000" y="1500000"/>
            <a:ext cx="8292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400" b="1" dirty="0">
                <a:solidFill>
                  <a:srgbClr val="2F6BE0"/>
                </a:solidFill>
                <a:latin typeface="Calibri"/>
                <a:ea typeface="Malgun Gothic"/>
                <a:cs typeface="Calibri"/>
              </a:rPr>
              <a:t>COMMAND INTERFACE · CI</a:t>
            </a:r>
          </a:p>
        </p:txBody>
      </p:sp>
      <p:sp>
        <p:nvSpPr>
          <p:cNvPr id="7" name="tx"/>
          <p:cNvSpPr/>
          <p:nvPr/>
        </p:nvSpPr>
        <p:spPr>
          <a:xfrm>
            <a:off x="900000" y="1950000"/>
            <a:ext cx="8592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5400" b="1" dirty="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Command Interface</a:t>
            </a:r>
          </a:p>
        </p:txBody>
      </p:sp>
      <p:sp>
        <p:nvSpPr>
          <p:cNvPr id="8" name="tx"/>
          <p:cNvSpPr/>
          <p:nvPr/>
        </p:nvSpPr>
        <p:spPr>
          <a:xfrm>
            <a:off x="920000" y="4350000"/>
            <a:ext cx="8592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ko-KR" sz="2000" dirty="0">
                <a:solidFill>
                  <a:srgbClr val="AEB9C6"/>
                </a:solidFill>
                <a:latin typeface="Calibri"/>
                <a:ea typeface="Malgun Gothic"/>
                <a:cs typeface="Calibri"/>
              </a:rPr>
              <a:t>NCMP 토큰으로 가는 모든 명령의 Request / Response 메시지 규격</a:t>
            </a:r>
          </a:p>
        </p:txBody>
      </p:sp>
      <p:sp>
        <p:nvSpPr>
          <p:cNvPr id="9" name="tx"/>
          <p:cNvSpPr/>
          <p:nvPr/>
        </p:nvSpPr>
        <p:spPr>
          <a:xfrm>
            <a:off x="920000" y="5300000"/>
            <a:ext cx="8592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250000" indent="-250000" algn="l">
              <a:lnSpc>
                <a:spcPct val="108000"/>
              </a:lnSpc>
              <a:spcBef>
                <a:spcPts val="120"/>
              </a:spcBef>
              <a:buFont typeface="Arial"/>
              <a:buChar char="—"/>
            </a:pPr>
            <a:r>
              <a:rPr lang="ko-KR" sz="1150" dirty="0">
                <a:solidFill>
                  <a:srgbClr val="AEB9C6"/>
                </a:solidFill>
                <a:latin typeface="Calibri"/>
                <a:ea typeface="Malgun Gothic"/>
                <a:cs typeface="Calibri"/>
              </a:rPr>
              <a:t>4바이트 정렬 · 리틀엔디언 와이어 프로토콜</a:t>
            </a:r>
          </a:p>
          <a:p>
            <a:pPr marL="250000" indent="-250000" algn="l">
              <a:lnSpc>
                <a:spcPct val="108000"/>
              </a:lnSpc>
              <a:spcBef>
                <a:spcPts val="120"/>
              </a:spcBef>
              <a:buFont typeface="Arial"/>
              <a:buChar char="—"/>
            </a:pPr>
            <a:r>
              <a:rPr lang="ko-KR" sz="1150" dirty="0">
                <a:solidFill>
                  <a:srgbClr val="AEB9C6"/>
                </a:solidFill>
                <a:latin typeface="Calibri"/>
                <a:ea typeface="Malgun Gothic"/>
                <a:cs typeface="Calibri"/>
              </a:rPr>
              <a:t>46개 명령 · CI_* 구조체 · CKR_* 상태 코드</a:t>
            </a:r>
          </a:p>
          <a:p>
            <a:pPr marL="250000" indent="-250000" algn="l">
              <a:lnSpc>
                <a:spcPct val="108000"/>
              </a:lnSpc>
              <a:spcBef>
                <a:spcPts val="120"/>
              </a:spcBef>
              <a:buFont typeface="Arial"/>
              <a:buChar char="—"/>
            </a:pPr>
            <a:r>
              <a:rPr lang="ko-KR" sz="1150" dirty="0">
                <a:solidFill>
                  <a:srgbClr val="AEB9C6"/>
                </a:solidFill>
                <a:latin typeface="Calibri"/>
                <a:ea typeface="Malgun Gothic"/>
                <a:cs typeface="Calibri"/>
              </a:rPr>
              <a:t>근거: ncmp_cmd.h · ncmp_wire.h · mcu_scheduler.c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1" name="spine"/>
          <p:cNvSpPr/>
          <p:nvPr/>
        </p:nvSpPr>
        <p:spPr>
          <a:xfrm>
            <a:off x="0" y="0"/>
            <a:ext cx="132000" cy="68580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2" name="tx"/>
          <p:cNvSpPr/>
          <p:nvPr/>
        </p:nvSpPr>
        <p:spPr>
          <a:xfrm>
            <a:off x="760000" y="360000"/>
            <a:ext cx="1067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150" b="1" dirty="0">
                <a:solidFill>
                  <a:srgbClr val="2F6BE0"/>
                </a:solidFill>
                <a:latin typeface="Calibri"/>
                <a:ea typeface="Malgun Gothic"/>
                <a:cs typeface="Calibri"/>
              </a:rPr>
              <a:t>개요</a:t>
            </a:r>
          </a:p>
        </p:txBody>
      </p:sp>
      <p:sp>
        <p:nvSpPr>
          <p:cNvPr id="13" name="fl"/>
          <p:cNvSpPr/>
          <p:nvPr/>
        </p:nvSpPr>
        <p:spPr>
          <a:xfrm>
            <a:off x="760000" y="6388000"/>
            <a:ext cx="10672000" cy="10000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4" name="tx"/>
          <p:cNvSpPr/>
          <p:nvPr/>
        </p:nvSpPr>
        <p:spPr>
          <a:xfrm>
            <a:off x="760000" y="6438000"/>
            <a:ext cx="997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Token NCMP · Command Interface (CI)</a:t>
            </a:r>
          </a:p>
        </p:txBody>
      </p:sp>
      <p:sp>
        <p:nvSpPr>
          <p:cNvPr id="15" name="tx"/>
          <p:cNvSpPr/>
          <p:nvPr/>
        </p:nvSpPr>
        <p:spPr>
          <a:xfrm>
            <a:off x="10732000" y="6438000"/>
            <a:ext cx="7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02</a:t>
            </a:r>
          </a:p>
        </p:txBody>
      </p:sp>
      <p:sp>
        <p:nvSpPr>
          <p:cNvPr id="16" name="tx"/>
          <p:cNvSpPr/>
          <p:nvPr/>
        </p:nvSpPr>
        <p:spPr>
          <a:xfrm>
            <a:off x="760000" y="640000"/>
            <a:ext cx="10672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300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CI 개요</a:t>
            </a:r>
          </a:p>
        </p:txBody>
      </p:sp>
      <p:sp>
        <p:nvSpPr>
          <p:cNvPr id="17" name="ul"/>
          <p:cNvSpPr/>
          <p:nvPr/>
        </p:nvSpPr>
        <p:spPr>
          <a:xfrm>
            <a:off x="770000" y="1760000"/>
            <a:ext cx="720000" cy="600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8" name="tx"/>
          <p:cNvSpPr/>
          <p:nvPr/>
        </p:nvSpPr>
        <p:spPr>
          <a:xfrm>
            <a:off x="760000" y="2060000"/>
            <a:ext cx="10672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CI(Command Interface)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는 호스트(ncmpd/STDLL)가 토큰으로 보내는 명령 규약이다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모든 메시지는 동일한 </a:t>
            </a:r>
            <a:r>
              <a:rPr lang="ko-KR" sz="175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봉투(envelope)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를 공유한다 — 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CI_Header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+ 파라미터 배열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명령마다 다른 것은 </a:t>
            </a:r>
            <a:r>
              <a:rPr lang="ko-KR" sz="175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파라미터 슬롯의 의미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뿐 (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param0..param7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)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전송 계층은 PKCS#11-무관: opcode 태그가 붙은 바이트 블록을 옮긴다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본 자료는 명령별 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CI_*Req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/ 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CI_*Rsp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구조와 각 필드를 정리한다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0" name="spine"/>
          <p:cNvSpPr/>
          <p:nvPr/>
        </p:nvSpPr>
        <p:spPr>
          <a:xfrm>
            <a:off x="0" y="0"/>
            <a:ext cx="132000" cy="68580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1" name="tx"/>
          <p:cNvSpPr/>
          <p:nvPr/>
        </p:nvSpPr>
        <p:spPr>
          <a:xfrm>
            <a:off x="760000" y="360000"/>
            <a:ext cx="1067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150" b="1" dirty="0">
                <a:solidFill>
                  <a:srgbClr val="2F6BE0"/>
                </a:solidFill>
                <a:latin typeface="Calibri"/>
                <a:ea typeface="Malgun Gothic"/>
                <a:cs typeface="Calibri"/>
              </a:rPr>
              <a:t>프레임</a:t>
            </a:r>
          </a:p>
        </p:txBody>
      </p:sp>
      <p:sp>
        <p:nvSpPr>
          <p:cNvPr id="22" name="fl"/>
          <p:cNvSpPr/>
          <p:nvPr/>
        </p:nvSpPr>
        <p:spPr>
          <a:xfrm>
            <a:off x="760000" y="6388000"/>
            <a:ext cx="10672000" cy="10000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3" name="tx"/>
          <p:cNvSpPr/>
          <p:nvPr/>
        </p:nvSpPr>
        <p:spPr>
          <a:xfrm>
            <a:off x="760000" y="6438000"/>
            <a:ext cx="997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Token NCMP · Command Interface (CI)</a:t>
            </a:r>
          </a:p>
        </p:txBody>
      </p:sp>
      <p:sp>
        <p:nvSpPr>
          <p:cNvPr id="24" name="tx"/>
          <p:cNvSpPr/>
          <p:nvPr/>
        </p:nvSpPr>
        <p:spPr>
          <a:xfrm>
            <a:off x="10732000" y="6438000"/>
            <a:ext cx="7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03</a:t>
            </a:r>
          </a:p>
        </p:txBody>
      </p:sp>
      <p:sp>
        <p:nvSpPr>
          <p:cNvPr id="25" name="tx"/>
          <p:cNvSpPr/>
          <p:nvPr/>
        </p:nvSpPr>
        <p:spPr>
          <a:xfrm>
            <a:off x="760000" y="640000"/>
            <a:ext cx="10672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300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공통 프레임 — CI_Message</a:t>
            </a:r>
          </a:p>
        </p:txBody>
      </p:sp>
      <p:sp>
        <p:nvSpPr>
          <p:cNvPr id="26" name="ul"/>
          <p:cNvSpPr/>
          <p:nvPr/>
        </p:nvSpPr>
        <p:spPr>
          <a:xfrm>
            <a:off x="770000" y="1760000"/>
            <a:ext cx="720000" cy="600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7" name="card"/>
          <p:cNvSpPr/>
          <p:nvPr/>
        </p:nvSpPr>
        <p:spPr>
          <a:xfrm>
            <a:off x="760000" y="2080000"/>
            <a:ext cx="5236000" cy="1975000"/>
          </a:xfrm>
          <a:prstGeom prst="roundRect">
            <a:avLst/>
          </a:prstGeom>
          <a:solidFill>
            <a:srgbClr val="E9EFFB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8" name="cbar"/>
          <p:cNvSpPr/>
          <p:nvPr/>
        </p:nvSpPr>
        <p:spPr>
          <a:xfrm>
            <a:off x="760000" y="2080000"/>
            <a:ext cx="70000" cy="19750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9" name="tx"/>
          <p:cNvSpPr/>
          <p:nvPr/>
        </p:nvSpPr>
        <p:spPr>
          <a:xfrm>
            <a:off x="820000" y="2080000"/>
            <a:ext cx="5116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2F6BE0"/>
                </a:solidFill>
                <a:latin typeface="Calibri"/>
                <a:ea typeface="Malgun Gothic"/>
                <a:cs typeface="Calibri"/>
              </a:rPr>
              <a:t>frame_len (4B)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이 필드 이후 전체 길이 = 20 + payload_len</a:t>
            </a:r>
          </a:p>
        </p:txBody>
      </p:sp>
      <p:sp>
        <p:nvSpPr>
          <p:cNvPr id="30" name="card"/>
          <p:cNvSpPr/>
          <p:nvPr/>
        </p:nvSpPr>
        <p:spPr>
          <a:xfrm>
            <a:off x="6196000" y="2080000"/>
            <a:ext cx="5236000" cy="1975000"/>
          </a:xfrm>
          <a:prstGeom prst="roundRect">
            <a:avLst/>
          </a:prstGeom>
          <a:solidFill>
            <a:srgbClr val="E9EFFB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1" name="cbar"/>
          <p:cNvSpPr/>
          <p:nvPr/>
        </p:nvSpPr>
        <p:spPr>
          <a:xfrm>
            <a:off x="6196000" y="2080000"/>
            <a:ext cx="70000" cy="19750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2" name="tx"/>
          <p:cNvSpPr/>
          <p:nvPr/>
        </p:nvSpPr>
        <p:spPr>
          <a:xfrm>
            <a:off x="6256000" y="2080000"/>
            <a:ext cx="5116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2F6BE0"/>
                </a:solidFill>
                <a:latin typeface="Calibri"/>
                <a:ea typeface="Malgun Gothic"/>
                <a:cs typeface="Calibri"/>
              </a:rPr>
              <a:t>CI_Header (20B)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session_id · sequence_id · command_id · ack · payload_len</a:t>
            </a:r>
          </a:p>
        </p:txBody>
      </p:sp>
      <p:sp>
        <p:nvSpPr>
          <p:cNvPr id="33" name="card"/>
          <p:cNvSpPr/>
          <p:nvPr/>
        </p:nvSpPr>
        <p:spPr>
          <a:xfrm>
            <a:off x="760000" y="4255000"/>
            <a:ext cx="5236000" cy="1975000"/>
          </a:xfrm>
          <a:prstGeom prst="roundRect">
            <a:avLst/>
          </a:prstGeom>
          <a:solidFill>
            <a:srgbClr val="E4F5F7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4" name="cbar"/>
          <p:cNvSpPr/>
          <p:nvPr/>
        </p:nvSpPr>
        <p:spPr>
          <a:xfrm>
            <a:off x="760000" y="4255000"/>
            <a:ext cx="70000" cy="1975000"/>
          </a:xfrm>
          <a:prstGeom prst="rect">
            <a:avLst/>
          </a:prstGeom>
          <a:solidFill>
            <a:srgbClr val="12A8B8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5" name="tx"/>
          <p:cNvSpPr/>
          <p:nvPr/>
        </p:nvSpPr>
        <p:spPr>
          <a:xfrm>
            <a:off x="820000" y="4255000"/>
            <a:ext cx="5116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2A8B8"/>
                </a:solidFill>
                <a:latin typeface="Calibri"/>
                <a:ea typeface="Malgun Gothic"/>
                <a:cs typeface="Calibri"/>
              </a:rPr>
              <a:t>param_len[8] (32B)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각 파라미터의 바이트 길이 (미사용 슬롯은 0)</a:t>
            </a:r>
          </a:p>
        </p:txBody>
      </p:sp>
      <p:sp>
        <p:nvSpPr>
          <p:cNvPr id="36" name="card"/>
          <p:cNvSpPr/>
          <p:nvPr/>
        </p:nvSpPr>
        <p:spPr>
          <a:xfrm>
            <a:off x="6196000" y="4255000"/>
            <a:ext cx="5236000" cy="1975000"/>
          </a:xfrm>
          <a:prstGeom prst="roundRect">
            <a:avLst/>
          </a:prstGeom>
          <a:solidFill>
            <a:srgbClr val="E4F5F7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7" name="cbar"/>
          <p:cNvSpPr/>
          <p:nvPr/>
        </p:nvSpPr>
        <p:spPr>
          <a:xfrm>
            <a:off x="6196000" y="4255000"/>
            <a:ext cx="70000" cy="1975000"/>
          </a:xfrm>
          <a:prstGeom prst="rect">
            <a:avLst/>
          </a:prstGeom>
          <a:solidFill>
            <a:srgbClr val="12A8B8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8" name="tx"/>
          <p:cNvSpPr/>
          <p:nvPr/>
        </p:nvSpPr>
        <p:spPr>
          <a:xfrm>
            <a:off x="6256000" y="4255000"/>
            <a:ext cx="5116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2A8B8"/>
                </a:solidFill>
                <a:latin typeface="Calibri"/>
                <a:ea typeface="Malgun Gothic"/>
                <a:cs typeface="Calibri"/>
              </a:rPr>
              <a:t>payload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param0..param7 을 순서대로 이어붙인 바이트열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40" name="spine"/>
          <p:cNvSpPr/>
          <p:nvPr/>
        </p:nvSpPr>
        <p:spPr>
          <a:xfrm>
            <a:off x="0" y="0"/>
            <a:ext cx="132000" cy="68580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41" name="tx"/>
          <p:cNvSpPr/>
          <p:nvPr/>
        </p:nvSpPr>
        <p:spPr>
          <a:xfrm>
            <a:off x="760000" y="360000"/>
            <a:ext cx="1067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150" b="1" dirty="0">
                <a:solidFill>
                  <a:srgbClr val="2F6BE0"/>
                </a:solidFill>
                <a:latin typeface="Calibri"/>
                <a:ea typeface="Malgun Gothic"/>
                <a:cs typeface="Calibri"/>
              </a:rPr>
              <a:t>프레임</a:t>
            </a:r>
          </a:p>
        </p:txBody>
      </p:sp>
      <p:sp>
        <p:nvSpPr>
          <p:cNvPr id="42" name="fl"/>
          <p:cNvSpPr/>
          <p:nvPr/>
        </p:nvSpPr>
        <p:spPr>
          <a:xfrm>
            <a:off x="760000" y="6388000"/>
            <a:ext cx="10672000" cy="10000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43" name="tx"/>
          <p:cNvSpPr/>
          <p:nvPr/>
        </p:nvSpPr>
        <p:spPr>
          <a:xfrm>
            <a:off x="760000" y="6438000"/>
            <a:ext cx="997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Token NCMP · Command Interface (CI)</a:t>
            </a:r>
          </a:p>
        </p:txBody>
      </p:sp>
      <p:sp>
        <p:nvSpPr>
          <p:cNvPr id="44" name="tx"/>
          <p:cNvSpPr/>
          <p:nvPr/>
        </p:nvSpPr>
        <p:spPr>
          <a:xfrm>
            <a:off x="10732000" y="6438000"/>
            <a:ext cx="7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04</a:t>
            </a:r>
          </a:p>
        </p:txBody>
      </p:sp>
      <p:sp>
        <p:nvSpPr>
          <p:cNvPr id="45" name="tx"/>
          <p:cNvSpPr/>
          <p:nvPr/>
        </p:nvSpPr>
        <p:spPr>
          <a:xfrm>
            <a:off x="760000" y="640000"/>
            <a:ext cx="10672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300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CI_Header — 5개 필드</a:t>
            </a:r>
          </a:p>
        </p:txBody>
      </p:sp>
      <p:sp>
        <p:nvSpPr>
          <p:cNvPr id="46" name="ul"/>
          <p:cNvSpPr/>
          <p:nvPr/>
        </p:nvSpPr>
        <p:spPr>
          <a:xfrm>
            <a:off x="770000" y="1760000"/>
            <a:ext cx="720000" cy="600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47" name="tx"/>
          <p:cNvSpPr/>
          <p:nvPr/>
        </p:nvSpPr>
        <p:spPr>
          <a:xfrm>
            <a:off x="760000" y="2060000"/>
            <a:ext cx="10672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session_id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— 이 명령이 속한 PKCS#11 세션 핸들 (전송 전용 명령은 0)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sequence_id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— 세션별 단조 증가 요청 id, 응답을 요청과 매칭하는 키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command_id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— [15:0] opcode(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CI_CMD_*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), [31:16] 플래그(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CI_FLAG_*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)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ack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— CKR_* 결과 코드. 요청은 CKR_OK(0), 응답에서 실제 상태를 실음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payload_len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— 헤더 이후 바이트 수 = 32 + Σ param_len[i]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49" name="spine"/>
          <p:cNvSpPr/>
          <p:nvPr/>
        </p:nvSpPr>
        <p:spPr>
          <a:xfrm>
            <a:off x="0" y="0"/>
            <a:ext cx="132000" cy="68580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50" name="tx"/>
          <p:cNvSpPr/>
          <p:nvPr/>
        </p:nvSpPr>
        <p:spPr>
          <a:xfrm>
            <a:off x="760000" y="360000"/>
            <a:ext cx="1067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150" b="1" dirty="0">
                <a:solidFill>
                  <a:srgbClr val="2F6BE0"/>
                </a:solidFill>
                <a:latin typeface="Calibri"/>
                <a:ea typeface="Malgun Gothic"/>
                <a:cs typeface="Calibri"/>
              </a:rPr>
              <a:t>규칙</a:t>
            </a:r>
          </a:p>
        </p:txBody>
      </p:sp>
      <p:sp>
        <p:nvSpPr>
          <p:cNvPr id="51" name="fl"/>
          <p:cNvSpPr/>
          <p:nvPr/>
        </p:nvSpPr>
        <p:spPr>
          <a:xfrm>
            <a:off x="760000" y="6388000"/>
            <a:ext cx="10672000" cy="10000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52" name="tx"/>
          <p:cNvSpPr/>
          <p:nvPr/>
        </p:nvSpPr>
        <p:spPr>
          <a:xfrm>
            <a:off x="760000" y="6438000"/>
            <a:ext cx="997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Token NCMP · Command Interface (CI)</a:t>
            </a:r>
          </a:p>
        </p:txBody>
      </p:sp>
      <p:sp>
        <p:nvSpPr>
          <p:cNvPr id="53" name="tx"/>
          <p:cNvSpPr/>
          <p:nvPr/>
        </p:nvSpPr>
        <p:spPr>
          <a:xfrm>
            <a:off x="10732000" y="6438000"/>
            <a:ext cx="7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05</a:t>
            </a:r>
          </a:p>
        </p:txBody>
      </p:sp>
      <p:sp>
        <p:nvSpPr>
          <p:cNvPr id="54" name="tx"/>
          <p:cNvSpPr/>
          <p:nvPr/>
        </p:nvSpPr>
        <p:spPr>
          <a:xfrm>
            <a:off x="760000" y="640000"/>
            <a:ext cx="10672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300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불변식 &amp; 규칙</a:t>
            </a:r>
          </a:p>
        </p:txBody>
      </p:sp>
      <p:sp>
        <p:nvSpPr>
          <p:cNvPr id="55" name="ul"/>
          <p:cNvSpPr/>
          <p:nvPr/>
        </p:nvSpPr>
        <p:spPr>
          <a:xfrm>
            <a:off x="770000" y="1760000"/>
            <a:ext cx="720000" cy="600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56" name="tx"/>
          <p:cNvSpPr/>
          <p:nvPr/>
        </p:nvSpPr>
        <p:spPr>
          <a:xfrm>
            <a:off x="760000" y="2060000"/>
            <a:ext cx="10672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frame_len == 20 + payload_len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payload_len == 32 + Σ param_len[i]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단일 파라미터 ≤ 32 KB · 결합 payload ≤ 40 KB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스칼라는 리틀엔디언 4바이트, 가변 블롭은 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param_len[]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가 길이 운반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FX3 bulk-IN 은 </a:t>
            </a:r>
            <a:r>
              <a:rPr lang="ko-KR" sz="175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단발 수신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— 응답 프레임 1개를 한 전송으로 읽음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CI_FLAG_FAIL_INJECT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(0x80000000) — 테스트용 강제 실패 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58" name="spine"/>
          <p:cNvSpPr/>
          <p:nvPr/>
        </p:nvSpPr>
        <p:spPr>
          <a:xfrm>
            <a:off x="0" y="0"/>
            <a:ext cx="132000" cy="68580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59" name="tx"/>
          <p:cNvSpPr/>
          <p:nvPr/>
        </p:nvSpPr>
        <p:spPr>
          <a:xfrm>
            <a:off x="760000" y="360000"/>
            <a:ext cx="1067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150" b="1" dirty="0">
                <a:solidFill>
                  <a:srgbClr val="2F6BE0"/>
                </a:solidFill>
                <a:latin typeface="Calibri"/>
                <a:ea typeface="Malgun Gothic"/>
                <a:cs typeface="Calibri"/>
              </a:rPr>
              <a:t>명령</a:t>
            </a:r>
          </a:p>
        </p:txBody>
      </p:sp>
      <p:sp>
        <p:nvSpPr>
          <p:cNvPr id="60" name="fl"/>
          <p:cNvSpPr/>
          <p:nvPr/>
        </p:nvSpPr>
        <p:spPr>
          <a:xfrm>
            <a:off x="760000" y="6388000"/>
            <a:ext cx="10672000" cy="10000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61" name="tx"/>
          <p:cNvSpPr/>
          <p:nvPr/>
        </p:nvSpPr>
        <p:spPr>
          <a:xfrm>
            <a:off x="760000" y="6438000"/>
            <a:ext cx="997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Token NCMP · Command Interface (CI)</a:t>
            </a:r>
          </a:p>
        </p:txBody>
      </p:sp>
      <p:sp>
        <p:nvSpPr>
          <p:cNvPr id="62" name="tx"/>
          <p:cNvSpPr/>
          <p:nvPr/>
        </p:nvSpPr>
        <p:spPr>
          <a:xfrm>
            <a:off x="10732000" y="6438000"/>
            <a:ext cx="7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06</a:t>
            </a:r>
          </a:p>
        </p:txBody>
      </p:sp>
      <p:sp>
        <p:nvSpPr>
          <p:cNvPr id="63" name="tx"/>
          <p:cNvSpPr/>
          <p:nvPr/>
        </p:nvSpPr>
        <p:spPr>
          <a:xfrm>
            <a:off x="760000" y="640000"/>
            <a:ext cx="10672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300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명령 카테고리 (CI_CMD_*)</a:t>
            </a:r>
          </a:p>
        </p:txBody>
      </p:sp>
      <p:sp>
        <p:nvSpPr>
          <p:cNvPr id="64" name="ul"/>
          <p:cNvSpPr/>
          <p:nvPr/>
        </p:nvSpPr>
        <p:spPr>
          <a:xfrm>
            <a:off x="770000" y="1760000"/>
            <a:ext cx="720000" cy="600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65" name="card"/>
          <p:cNvSpPr/>
          <p:nvPr/>
        </p:nvSpPr>
        <p:spPr>
          <a:xfrm>
            <a:off x="760000" y="2080000"/>
            <a:ext cx="3424000" cy="1975000"/>
          </a:xfrm>
          <a:prstGeom prst="roundRect">
            <a:avLst/>
          </a:prstGeom>
          <a:solidFill>
            <a:srgbClr val="E9EFFB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66" name="cbar"/>
          <p:cNvSpPr/>
          <p:nvPr/>
        </p:nvSpPr>
        <p:spPr>
          <a:xfrm>
            <a:off x="760000" y="2080000"/>
            <a:ext cx="70000" cy="19750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67" name="tx"/>
          <p:cNvSpPr/>
          <p:nvPr/>
        </p:nvSpPr>
        <p:spPr>
          <a:xfrm>
            <a:off x="820000" y="2080000"/>
            <a:ext cx="3304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2F6BE0"/>
                </a:solidFill>
                <a:latin typeface="Calibri"/>
                <a:ea typeface="Malgun Gothic"/>
                <a:cs typeface="Calibri"/>
              </a:rPr>
              <a:t>기본·대칭·해시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RNG · DIGEST(멀티파트) · HMAC · SHAKE · AES-GCM/CTR/CBC/ECB/OFB/CFB</a:t>
            </a:r>
          </a:p>
        </p:txBody>
      </p:sp>
      <p:sp>
        <p:nvSpPr>
          <p:cNvPr id="68" name="card"/>
          <p:cNvSpPr/>
          <p:nvPr/>
        </p:nvSpPr>
        <p:spPr>
          <a:xfrm>
            <a:off x="4384000" y="2080000"/>
            <a:ext cx="3424000" cy="1975000"/>
          </a:xfrm>
          <a:prstGeom prst="roundRect">
            <a:avLst/>
          </a:prstGeom>
          <a:solidFill>
            <a:srgbClr val="E4F5F7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69" name="cbar"/>
          <p:cNvSpPr/>
          <p:nvPr/>
        </p:nvSpPr>
        <p:spPr>
          <a:xfrm>
            <a:off x="4384000" y="2080000"/>
            <a:ext cx="70000" cy="1975000"/>
          </a:xfrm>
          <a:prstGeom prst="rect">
            <a:avLst/>
          </a:prstGeom>
          <a:solidFill>
            <a:srgbClr val="12A8B8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70" name="tx"/>
          <p:cNvSpPr/>
          <p:nvPr/>
        </p:nvSpPr>
        <p:spPr>
          <a:xfrm>
            <a:off x="4444000" y="2080000"/>
            <a:ext cx="3304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2A8B8"/>
                </a:solidFill>
                <a:latin typeface="Calibri"/>
                <a:ea typeface="Malgun Gothic"/>
                <a:cs typeface="Calibri"/>
              </a:rPr>
              <a:t>비대칭 (레거시)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RSA / EC sign·verify·keygen · RSA-OAEP · DH / ECDH derive</a:t>
            </a:r>
          </a:p>
        </p:txBody>
      </p:sp>
      <p:sp>
        <p:nvSpPr>
          <p:cNvPr id="71" name="card"/>
          <p:cNvSpPr/>
          <p:nvPr/>
        </p:nvSpPr>
        <p:spPr>
          <a:xfrm>
            <a:off x="8008000" y="2080000"/>
            <a:ext cx="3424000" cy="1975000"/>
          </a:xfrm>
          <a:prstGeom prst="roundRect">
            <a:avLst/>
          </a:prstGeom>
          <a:solidFill>
            <a:srgbClr val="E2F3EE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72" name="cbar"/>
          <p:cNvSpPr/>
          <p:nvPr/>
        </p:nvSpPr>
        <p:spPr>
          <a:xfrm>
            <a:off x="8008000" y="2080000"/>
            <a:ext cx="70000" cy="1975000"/>
          </a:xfrm>
          <a:prstGeom prst="rect">
            <a:avLst/>
          </a:prstGeom>
          <a:solidFill>
            <a:srgbClr val="0E8A6E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73" name="tx"/>
          <p:cNvSpPr/>
          <p:nvPr/>
        </p:nvSpPr>
        <p:spPr>
          <a:xfrm>
            <a:off x="8068000" y="2080000"/>
            <a:ext cx="3304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0E8A6E"/>
                </a:solidFill>
                <a:latin typeface="Calibri"/>
                <a:ea typeface="Malgun Gothic"/>
                <a:cs typeface="Calibri"/>
              </a:rPr>
              <a:t>토큰 관리·로그인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LOGIN · LOGOUT · INIT_PIN · SET_PIN · INIT_TOKEN</a:t>
            </a:r>
          </a:p>
        </p:txBody>
      </p:sp>
      <p:sp>
        <p:nvSpPr>
          <p:cNvPr id="74" name="card"/>
          <p:cNvSpPr/>
          <p:nvPr/>
        </p:nvSpPr>
        <p:spPr>
          <a:xfrm>
            <a:off x="760000" y="4255000"/>
            <a:ext cx="3424000" cy="1975000"/>
          </a:xfrm>
          <a:prstGeom prst="roundRect">
            <a:avLst/>
          </a:prstGeom>
          <a:solidFill>
            <a:srgbClr val="EEE9FA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75" name="cbar"/>
          <p:cNvSpPr/>
          <p:nvPr/>
        </p:nvSpPr>
        <p:spPr>
          <a:xfrm>
            <a:off x="760000" y="4255000"/>
            <a:ext cx="70000" cy="1975000"/>
          </a:xfrm>
          <a:prstGeom prst="rect">
            <a:avLst/>
          </a:prstGeom>
          <a:solidFill>
            <a:srgbClr val="6C4CC7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76" name="tx"/>
          <p:cNvSpPr/>
          <p:nvPr/>
        </p:nvSpPr>
        <p:spPr>
          <a:xfrm>
            <a:off x="820000" y="4255000"/>
            <a:ext cx="3304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6C4CC7"/>
                </a:solidFill>
                <a:latin typeface="Calibri"/>
                <a:ea typeface="Malgun Gothic"/>
                <a:cs typeface="Calibri"/>
              </a:rPr>
              <a:t>포스트양자 (PQC)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ML-DSA · ML-KEM (keygen · sign/verify · encaps/decaps)</a:t>
            </a:r>
          </a:p>
        </p:txBody>
      </p:sp>
      <p:sp>
        <p:nvSpPr>
          <p:cNvPr id="77" name="card"/>
          <p:cNvSpPr/>
          <p:nvPr/>
        </p:nvSpPr>
        <p:spPr>
          <a:xfrm>
            <a:off x="4384000" y="4255000"/>
            <a:ext cx="3424000" cy="1975000"/>
          </a:xfrm>
          <a:prstGeom prst="roundRect">
            <a:avLst/>
          </a:prstGeom>
          <a:solidFill>
            <a:srgbClr val="F7EEDD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78" name="cbar"/>
          <p:cNvSpPr/>
          <p:nvPr/>
        </p:nvSpPr>
        <p:spPr>
          <a:xfrm>
            <a:off x="4384000" y="4255000"/>
            <a:ext cx="70000" cy="1975000"/>
          </a:xfrm>
          <a:prstGeom prst="rect">
            <a:avLst/>
          </a:prstGeom>
          <a:solidFill>
            <a:srgbClr val="B26A00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79" name="tx"/>
          <p:cNvSpPr/>
          <p:nvPr/>
        </p:nvSpPr>
        <p:spPr>
          <a:xfrm>
            <a:off x="4444000" y="4255000"/>
            <a:ext cx="3304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B26A00"/>
                </a:solidFill>
                <a:latin typeface="Calibri"/>
                <a:ea typeface="Malgun Gothic"/>
                <a:cs typeface="Calibri"/>
              </a:rPr>
              <a:t>벤더 정의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LOOPBACK · MEM R/W/FILL/CRC · PING · SELFTEST · FW_INFO · TOKEN_INFO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81" name="spine"/>
          <p:cNvSpPr/>
          <p:nvPr/>
        </p:nvSpPr>
        <p:spPr>
          <a:xfrm>
            <a:off x="0" y="0"/>
            <a:ext cx="132000" cy="68580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82" name="tx"/>
          <p:cNvSpPr/>
          <p:nvPr/>
        </p:nvSpPr>
        <p:spPr>
          <a:xfrm>
            <a:off x="760000" y="360000"/>
            <a:ext cx="1067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150" b="1" dirty="0">
                <a:solidFill>
                  <a:srgbClr val="2F6BE0"/>
                </a:solidFill>
                <a:latin typeface="Calibri"/>
                <a:ea typeface="Malgun Gothic"/>
                <a:cs typeface="Calibri"/>
              </a:rPr>
              <a:t>표기</a:t>
            </a:r>
          </a:p>
        </p:txBody>
      </p:sp>
      <p:sp>
        <p:nvSpPr>
          <p:cNvPr id="83" name="fl"/>
          <p:cNvSpPr/>
          <p:nvPr/>
        </p:nvSpPr>
        <p:spPr>
          <a:xfrm>
            <a:off x="760000" y="6388000"/>
            <a:ext cx="10672000" cy="10000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84" name="tx"/>
          <p:cNvSpPr/>
          <p:nvPr/>
        </p:nvSpPr>
        <p:spPr>
          <a:xfrm>
            <a:off x="760000" y="6438000"/>
            <a:ext cx="997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Token NCMP · Command Interface (CI)</a:t>
            </a:r>
          </a:p>
        </p:txBody>
      </p:sp>
      <p:sp>
        <p:nvSpPr>
          <p:cNvPr id="85" name="tx"/>
          <p:cNvSpPr/>
          <p:nvPr/>
        </p:nvSpPr>
        <p:spPr>
          <a:xfrm>
            <a:off x="10732000" y="6438000"/>
            <a:ext cx="7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07</a:t>
            </a:r>
          </a:p>
        </p:txBody>
      </p:sp>
      <p:sp>
        <p:nvSpPr>
          <p:cNvPr id="86" name="tx"/>
          <p:cNvSpPr/>
          <p:nvPr/>
        </p:nvSpPr>
        <p:spPr>
          <a:xfrm>
            <a:off x="760000" y="640000"/>
            <a:ext cx="10672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300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표기 규약 &amp; 예시 — RNG</a:t>
            </a:r>
          </a:p>
        </p:txBody>
      </p:sp>
      <p:sp>
        <p:nvSpPr>
          <p:cNvPr id="87" name="ul"/>
          <p:cNvSpPr/>
          <p:nvPr/>
        </p:nvSpPr>
        <p:spPr>
          <a:xfrm>
            <a:off x="770000" y="1760000"/>
            <a:ext cx="720000" cy="600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88" name="tx"/>
          <p:cNvSpPr/>
          <p:nvPr/>
        </p:nvSpPr>
        <p:spPr>
          <a:xfrm>
            <a:off x="760000" y="2060000"/>
            <a:ext cx="10672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각 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CI_*Req/Rsp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필드 = 하나의 파라미터 슬롯 (논리적 매핑)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스칼라는 4바이트 LE, 가변 블롭은 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name[]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CI_RngReq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— 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uint32_t count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(param0: 요청 난수 바이트 수 ≤ 32KB)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CI_RngRsp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— 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uint8_t bytes[]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(param0: count 바이트의 난수)</a:t>
            </a:r>
          </a:p>
          <a:p>
            <a:pPr marL="620000" indent="-260000" algn="l">
              <a:lnSpc>
                <a:spcPct val="110000"/>
              </a:lnSpc>
              <a:spcBef>
                <a:spcPts val="500"/>
              </a:spcBef>
              <a:buFont typeface="Arial"/>
              <a:buChar char="–"/>
            </a:pPr>
            <a:r>
              <a:rPr lang="ko-KR" sz="14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파라미터가 없으면 결과는 </a:t>
            </a:r>
            <a:r>
              <a:rPr lang="ko-KR" sz="140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header.ack</a:t>
            </a:r>
            <a:r>
              <a:rPr lang="ko-KR" sz="14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 로만 전달된다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90" name="spine"/>
          <p:cNvSpPr/>
          <p:nvPr/>
        </p:nvSpPr>
        <p:spPr>
          <a:xfrm>
            <a:off x="0" y="0"/>
            <a:ext cx="132000" cy="68580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91" name="tx"/>
          <p:cNvSpPr/>
          <p:nvPr/>
        </p:nvSpPr>
        <p:spPr>
          <a:xfrm>
            <a:off x="760000" y="360000"/>
            <a:ext cx="1067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150" b="1" dirty="0">
                <a:solidFill>
                  <a:srgbClr val="2F6BE0"/>
                </a:solidFill>
                <a:latin typeface="Calibri"/>
                <a:ea typeface="Malgun Gothic"/>
                <a:cs typeface="Calibri"/>
              </a:rPr>
              <a:t>예시</a:t>
            </a:r>
          </a:p>
        </p:txBody>
      </p:sp>
      <p:sp>
        <p:nvSpPr>
          <p:cNvPr id="92" name="fl"/>
          <p:cNvSpPr/>
          <p:nvPr/>
        </p:nvSpPr>
        <p:spPr>
          <a:xfrm>
            <a:off x="760000" y="6388000"/>
            <a:ext cx="10672000" cy="10000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93" name="tx"/>
          <p:cNvSpPr/>
          <p:nvPr/>
        </p:nvSpPr>
        <p:spPr>
          <a:xfrm>
            <a:off x="760000" y="6438000"/>
            <a:ext cx="997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Token NCMP · Command Interface (CI)</a:t>
            </a:r>
          </a:p>
        </p:txBody>
      </p:sp>
      <p:sp>
        <p:nvSpPr>
          <p:cNvPr id="94" name="tx"/>
          <p:cNvSpPr/>
          <p:nvPr/>
        </p:nvSpPr>
        <p:spPr>
          <a:xfrm>
            <a:off x="10732000" y="6438000"/>
            <a:ext cx="7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08</a:t>
            </a:r>
          </a:p>
        </p:txBody>
      </p:sp>
      <p:sp>
        <p:nvSpPr>
          <p:cNvPr id="95" name="tx"/>
          <p:cNvSpPr/>
          <p:nvPr/>
        </p:nvSpPr>
        <p:spPr>
          <a:xfrm>
            <a:off x="760000" y="640000"/>
            <a:ext cx="10672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300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예시 — AES-GCM (AEAD)</a:t>
            </a:r>
          </a:p>
        </p:txBody>
      </p:sp>
      <p:sp>
        <p:nvSpPr>
          <p:cNvPr id="96" name="ul"/>
          <p:cNvSpPr/>
          <p:nvPr/>
        </p:nvSpPr>
        <p:spPr>
          <a:xfrm>
            <a:off x="770000" y="1760000"/>
            <a:ext cx="720000" cy="600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97" name="tx"/>
          <p:cNvSpPr/>
          <p:nvPr/>
        </p:nvSpPr>
        <p:spPr>
          <a:xfrm>
            <a:off x="760000" y="2060000"/>
            <a:ext cx="10672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CI_AesGcmReq</a:t>
            </a:r>
          </a:p>
          <a:p>
            <a:pPr marL="620000" indent="-260000" algn="l">
              <a:lnSpc>
                <a:spcPct val="110000"/>
              </a:lnSpc>
              <a:spcBef>
                <a:spcPts val="500"/>
              </a:spcBef>
              <a:buFont typeface="Arial"/>
              <a:buChar char="–"/>
            </a:pPr>
            <a:r>
              <a:rPr lang="ko-KR" sz="140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uint32_t flags</a:t>
            </a:r>
            <a:r>
              <a:rPr lang="ko-KR" sz="14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 — param0: bit0=1 암호화 / 0 복호화</a:t>
            </a:r>
          </a:p>
          <a:p>
            <a:pPr marL="620000" indent="-260000" algn="l">
              <a:lnSpc>
                <a:spcPct val="110000"/>
              </a:lnSpc>
              <a:spcBef>
                <a:spcPts val="500"/>
              </a:spcBef>
              <a:buFont typeface="Arial"/>
              <a:buChar char="–"/>
            </a:pPr>
            <a:r>
              <a:rPr lang="ko-KR" sz="140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uint8_t key[]</a:t>
            </a:r>
            <a:r>
              <a:rPr lang="ko-KR" sz="14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 · </a:t>
            </a:r>
            <a:r>
              <a:rPr lang="ko-KR" sz="140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iv[]</a:t>
            </a:r>
            <a:r>
              <a:rPr lang="ko-KR" sz="14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 · </a:t>
            </a:r>
            <a:r>
              <a:rPr lang="ko-KR" sz="140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aad[]</a:t>
            </a:r>
            <a:r>
              <a:rPr lang="ko-KR" sz="14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 — param1/2/3 (aad 비어 있을 수 있음)</a:t>
            </a:r>
          </a:p>
          <a:p>
            <a:pPr marL="620000" indent="-260000" algn="l">
              <a:lnSpc>
                <a:spcPct val="110000"/>
              </a:lnSpc>
              <a:spcBef>
                <a:spcPts val="500"/>
              </a:spcBef>
              <a:buFont typeface="Arial"/>
              <a:buChar char="–"/>
            </a:pPr>
            <a:r>
              <a:rPr lang="ko-KR" sz="140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uint32_t tag_len</a:t>
            </a:r>
            <a:r>
              <a:rPr lang="ko-KR" sz="14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 — param4: 인증 태그 길이</a:t>
            </a:r>
          </a:p>
          <a:p>
            <a:pPr marL="620000" indent="-260000" algn="l">
              <a:lnSpc>
                <a:spcPct val="110000"/>
              </a:lnSpc>
              <a:spcBef>
                <a:spcPts val="500"/>
              </a:spcBef>
              <a:buFont typeface="Arial"/>
              <a:buChar char="–"/>
            </a:pPr>
            <a:r>
              <a:rPr lang="ko-KR" sz="140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uint8_t data[]</a:t>
            </a:r>
            <a:r>
              <a:rPr lang="ko-KR" sz="14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 — param5: 평문(암호화) 또는 ciphertext‖tag(복호화)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CI_AesGcmRsp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— 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uint8_t out[]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(ct‖tag 또는 평문)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태그 불일치 시 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ack = CKR_ENCRYPTED_DATA_INVALID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, 출력 없음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99" name="spine"/>
          <p:cNvSpPr/>
          <p:nvPr/>
        </p:nvSpPr>
        <p:spPr>
          <a:xfrm>
            <a:off x="0" y="0"/>
            <a:ext cx="132000" cy="68580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00" name="tx"/>
          <p:cNvSpPr/>
          <p:nvPr/>
        </p:nvSpPr>
        <p:spPr>
          <a:xfrm>
            <a:off x="760000" y="360000"/>
            <a:ext cx="1067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150" b="1" dirty="0">
                <a:solidFill>
                  <a:srgbClr val="2F6BE0"/>
                </a:solidFill>
                <a:latin typeface="Calibri"/>
                <a:ea typeface="Malgun Gothic"/>
                <a:cs typeface="Calibri"/>
              </a:rPr>
              <a:t>예시</a:t>
            </a:r>
          </a:p>
        </p:txBody>
      </p:sp>
      <p:sp>
        <p:nvSpPr>
          <p:cNvPr id="101" name="fl"/>
          <p:cNvSpPr/>
          <p:nvPr/>
        </p:nvSpPr>
        <p:spPr>
          <a:xfrm>
            <a:off x="760000" y="6388000"/>
            <a:ext cx="10672000" cy="10000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02" name="tx"/>
          <p:cNvSpPr/>
          <p:nvPr/>
        </p:nvSpPr>
        <p:spPr>
          <a:xfrm>
            <a:off x="760000" y="6438000"/>
            <a:ext cx="997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Token NCMP · Command Interface (CI)</a:t>
            </a:r>
          </a:p>
        </p:txBody>
      </p:sp>
      <p:sp>
        <p:nvSpPr>
          <p:cNvPr id="103" name="tx"/>
          <p:cNvSpPr/>
          <p:nvPr/>
        </p:nvSpPr>
        <p:spPr>
          <a:xfrm>
            <a:off x="10732000" y="6438000"/>
            <a:ext cx="7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09</a:t>
            </a:r>
          </a:p>
        </p:txBody>
      </p:sp>
      <p:sp>
        <p:nvSpPr>
          <p:cNvPr id="104" name="tx"/>
          <p:cNvSpPr/>
          <p:nvPr/>
        </p:nvSpPr>
        <p:spPr>
          <a:xfrm>
            <a:off x="760000" y="640000"/>
            <a:ext cx="10672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300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예시 — ML-KEM 캡슐화 / 역캡슐화</a:t>
            </a:r>
          </a:p>
        </p:txBody>
      </p:sp>
      <p:sp>
        <p:nvSpPr>
          <p:cNvPr id="105" name="ul"/>
          <p:cNvSpPr/>
          <p:nvPr/>
        </p:nvSpPr>
        <p:spPr>
          <a:xfrm>
            <a:off x="770000" y="1760000"/>
            <a:ext cx="720000" cy="600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06" name="tx"/>
          <p:cNvSpPr/>
          <p:nvPr/>
        </p:nvSpPr>
        <p:spPr>
          <a:xfrm>
            <a:off x="760000" y="2060000"/>
            <a:ext cx="10672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CI_MlKemEncapsReq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— 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param_set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· 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ct_len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· 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ss_len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· 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pub[]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CI_MlKemEncapsRsp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— 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ct[]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(암호문) · 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ss[]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(공유 비밀, 32B)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CI_MlKemDecapsReq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— 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param_set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· 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pub_len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· 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ss_len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· 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priv[]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· 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ct[]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CI_MlKemDecapsRsp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— 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ss[]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(encaps 결과와 동일한 공유 비밀)</a:t>
            </a:r>
          </a:p>
          <a:p>
            <a:pPr marL="620000" indent="-260000" algn="l">
              <a:lnSpc>
                <a:spcPct val="110000"/>
              </a:lnSpc>
              <a:spcBef>
                <a:spcPts val="500"/>
              </a:spcBef>
              <a:buFont typeface="Arial"/>
              <a:buChar char="–"/>
            </a:pPr>
            <a:r>
              <a:rPr lang="ko-KR" sz="14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개인 블롭은 공개 블롭을 접두어로 포함 → encaps/decaps 일치</a:t>
            </a:r>
          </a:p>
          <a:p>
            <a:pPr marL="620000" indent="-260000" algn="l">
              <a:lnSpc>
                <a:spcPct val="110000"/>
              </a:lnSpc>
              <a:spcBef>
                <a:spcPts val="500"/>
              </a:spcBef>
              <a:buFont typeface="Arial"/>
              <a:buChar char="–"/>
            </a:pPr>
            <a:r>
              <a:rPr lang="ko-KR" sz="140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param_set</a:t>
            </a:r>
            <a:r>
              <a:rPr lang="ko-KR" sz="14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 = CKP_ML_KEM_512/768/1024 (보안강도 1 / 3 / 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08" name="spine"/>
          <p:cNvSpPr/>
          <p:nvPr/>
        </p:nvSpPr>
        <p:spPr>
          <a:xfrm>
            <a:off x="0" y="0"/>
            <a:ext cx="132000" cy="68580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09" name="tx"/>
          <p:cNvSpPr/>
          <p:nvPr/>
        </p:nvSpPr>
        <p:spPr>
          <a:xfrm>
            <a:off x="760000" y="360000"/>
            <a:ext cx="1067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150" b="1" dirty="0">
                <a:solidFill>
                  <a:srgbClr val="2F6BE0"/>
                </a:solidFill>
                <a:latin typeface="Calibri"/>
                <a:ea typeface="Malgun Gothic"/>
                <a:cs typeface="Calibri"/>
              </a:rPr>
              <a:t>관리</a:t>
            </a:r>
          </a:p>
        </p:txBody>
      </p:sp>
      <p:sp>
        <p:nvSpPr>
          <p:cNvPr id="110" name="fl"/>
          <p:cNvSpPr/>
          <p:nvPr/>
        </p:nvSpPr>
        <p:spPr>
          <a:xfrm>
            <a:off x="760000" y="6388000"/>
            <a:ext cx="10672000" cy="10000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11" name="tx"/>
          <p:cNvSpPr/>
          <p:nvPr/>
        </p:nvSpPr>
        <p:spPr>
          <a:xfrm>
            <a:off x="760000" y="6438000"/>
            <a:ext cx="997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Token NCMP · Command Interface (CI)</a:t>
            </a:r>
          </a:p>
        </p:txBody>
      </p:sp>
      <p:sp>
        <p:nvSpPr>
          <p:cNvPr id="112" name="tx"/>
          <p:cNvSpPr/>
          <p:nvPr/>
        </p:nvSpPr>
        <p:spPr>
          <a:xfrm>
            <a:off x="10732000" y="6438000"/>
            <a:ext cx="7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10</a:t>
            </a:r>
          </a:p>
        </p:txBody>
      </p:sp>
      <p:sp>
        <p:nvSpPr>
          <p:cNvPr id="113" name="tx"/>
          <p:cNvSpPr/>
          <p:nvPr/>
        </p:nvSpPr>
        <p:spPr>
          <a:xfrm>
            <a:off x="760000" y="640000"/>
            <a:ext cx="10672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300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토큰 관리 / 로그인</a:t>
            </a:r>
          </a:p>
        </p:txBody>
      </p:sp>
      <p:sp>
        <p:nvSpPr>
          <p:cNvPr id="114" name="ul"/>
          <p:cNvSpPr/>
          <p:nvPr/>
        </p:nvSpPr>
        <p:spPr>
          <a:xfrm>
            <a:off x="770000" y="1760000"/>
            <a:ext cx="720000" cy="600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15" name="tx"/>
          <p:cNvSpPr/>
          <p:nvPr/>
        </p:nvSpPr>
        <p:spPr>
          <a:xfrm>
            <a:off x="760000" y="2060000"/>
            <a:ext cx="10672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CI_LoginReq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— 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uint32_t user_type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(SO=0/User=1) · 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pin[]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CI_LogoutReq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— 파라미터 없음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CI_InitPinReq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— 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new_pin[]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(SO가 사용자 PIN 설정)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CI_SetPinReq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— 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old_pin[]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· 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new_pin[]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CI_InitTokenReq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— 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so_pin[]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· 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label[32]</a:t>
            </a:r>
          </a:p>
          <a:p>
            <a:pPr marL="620000" indent="-260000" algn="l">
              <a:lnSpc>
                <a:spcPct val="110000"/>
              </a:lnSpc>
              <a:spcBef>
                <a:spcPts val="500"/>
              </a:spcBef>
              <a:buFont typeface="Arial"/>
              <a:buChar char="–"/>
            </a:pPr>
            <a:r>
              <a:rPr lang="ko-KR" sz="14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응답은 ack만: CKR_OK / CKR_PIN_INCORRECT / CKR_USER_* / CKR_PIN_LEN_RANGE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17" name="spine"/>
          <p:cNvSpPr/>
          <p:nvPr/>
        </p:nvSpPr>
        <p:spPr>
          <a:xfrm>
            <a:off x="0" y="0"/>
            <a:ext cx="132000" cy="68580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18" name="tx"/>
          <p:cNvSpPr/>
          <p:nvPr/>
        </p:nvSpPr>
        <p:spPr>
          <a:xfrm>
            <a:off x="760000" y="360000"/>
            <a:ext cx="1067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150" b="1" dirty="0">
                <a:solidFill>
                  <a:srgbClr val="2F6BE0"/>
                </a:solidFill>
                <a:latin typeface="Calibri"/>
                <a:ea typeface="Malgun Gothic"/>
                <a:cs typeface="Calibri"/>
              </a:rPr>
              <a:t>상태</a:t>
            </a:r>
          </a:p>
        </p:txBody>
      </p:sp>
      <p:sp>
        <p:nvSpPr>
          <p:cNvPr id="119" name="fl"/>
          <p:cNvSpPr/>
          <p:nvPr/>
        </p:nvSpPr>
        <p:spPr>
          <a:xfrm>
            <a:off x="760000" y="6388000"/>
            <a:ext cx="10672000" cy="10000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20" name="tx"/>
          <p:cNvSpPr/>
          <p:nvPr/>
        </p:nvSpPr>
        <p:spPr>
          <a:xfrm>
            <a:off x="760000" y="6438000"/>
            <a:ext cx="997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Token NCMP · Command Interface (CI)</a:t>
            </a:r>
          </a:p>
        </p:txBody>
      </p:sp>
      <p:sp>
        <p:nvSpPr>
          <p:cNvPr id="121" name="tx"/>
          <p:cNvSpPr/>
          <p:nvPr/>
        </p:nvSpPr>
        <p:spPr>
          <a:xfrm>
            <a:off x="10732000" y="6438000"/>
            <a:ext cx="7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11</a:t>
            </a:r>
          </a:p>
        </p:txBody>
      </p:sp>
      <p:sp>
        <p:nvSpPr>
          <p:cNvPr id="122" name="tx"/>
          <p:cNvSpPr/>
          <p:nvPr/>
        </p:nvSpPr>
        <p:spPr>
          <a:xfrm>
            <a:off x="760000" y="640000"/>
            <a:ext cx="10672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300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응답 상태 — header.ack (CKR_*)</a:t>
            </a:r>
          </a:p>
        </p:txBody>
      </p:sp>
      <p:sp>
        <p:nvSpPr>
          <p:cNvPr id="123" name="ul"/>
          <p:cNvSpPr/>
          <p:nvPr/>
        </p:nvSpPr>
        <p:spPr>
          <a:xfrm>
            <a:off x="770000" y="1760000"/>
            <a:ext cx="720000" cy="600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24" name="card"/>
          <p:cNvSpPr/>
          <p:nvPr/>
        </p:nvSpPr>
        <p:spPr>
          <a:xfrm>
            <a:off x="760000" y="2080000"/>
            <a:ext cx="3424000" cy="1975000"/>
          </a:xfrm>
          <a:prstGeom prst="roundRect">
            <a:avLst/>
          </a:prstGeom>
          <a:solidFill>
            <a:srgbClr val="E2F3EE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25" name="cbar"/>
          <p:cNvSpPr/>
          <p:nvPr/>
        </p:nvSpPr>
        <p:spPr>
          <a:xfrm>
            <a:off x="760000" y="2080000"/>
            <a:ext cx="70000" cy="1975000"/>
          </a:xfrm>
          <a:prstGeom prst="rect">
            <a:avLst/>
          </a:prstGeom>
          <a:solidFill>
            <a:srgbClr val="0E8A6E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26" name="tx"/>
          <p:cNvSpPr/>
          <p:nvPr/>
        </p:nvSpPr>
        <p:spPr>
          <a:xfrm>
            <a:off x="820000" y="2080000"/>
            <a:ext cx="3304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0E8A6E"/>
                </a:solidFill>
                <a:latin typeface="Calibri"/>
                <a:ea typeface="Malgun Gothic"/>
                <a:cs typeface="Calibri"/>
              </a:rPr>
              <a:t>CKR_OK · 0x00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성공</a:t>
            </a:r>
          </a:p>
        </p:txBody>
      </p:sp>
      <p:sp>
        <p:nvSpPr>
          <p:cNvPr id="127" name="card"/>
          <p:cNvSpPr/>
          <p:nvPr/>
        </p:nvSpPr>
        <p:spPr>
          <a:xfrm>
            <a:off x="4384000" y="2080000"/>
            <a:ext cx="3424000" cy="1975000"/>
          </a:xfrm>
          <a:prstGeom prst="roundRect">
            <a:avLst/>
          </a:prstGeom>
          <a:solidFill>
            <a:srgbClr val="F7EEDD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28" name="cbar"/>
          <p:cNvSpPr/>
          <p:nvPr/>
        </p:nvSpPr>
        <p:spPr>
          <a:xfrm>
            <a:off x="4384000" y="2080000"/>
            <a:ext cx="70000" cy="1975000"/>
          </a:xfrm>
          <a:prstGeom prst="rect">
            <a:avLst/>
          </a:prstGeom>
          <a:solidFill>
            <a:srgbClr val="B26A00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29" name="tx"/>
          <p:cNvSpPr/>
          <p:nvPr/>
        </p:nvSpPr>
        <p:spPr>
          <a:xfrm>
            <a:off x="4444000" y="2080000"/>
            <a:ext cx="3304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B26A00"/>
                </a:solidFill>
                <a:latin typeface="Calibri"/>
                <a:ea typeface="Malgun Gothic"/>
                <a:cs typeface="Calibri"/>
              </a:rPr>
              <a:t>CKR_FUNCTION_FAILED · 0x06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일반 실패 / 파싱 오류</a:t>
            </a:r>
          </a:p>
        </p:txBody>
      </p:sp>
      <p:sp>
        <p:nvSpPr>
          <p:cNvPr id="130" name="card"/>
          <p:cNvSpPr/>
          <p:nvPr/>
        </p:nvSpPr>
        <p:spPr>
          <a:xfrm>
            <a:off x="8008000" y="2080000"/>
            <a:ext cx="3424000" cy="1975000"/>
          </a:xfrm>
          <a:prstGeom prst="roundRect">
            <a:avLst/>
          </a:prstGeom>
          <a:solidFill>
            <a:srgbClr val="F7EEDD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31" name="cbar"/>
          <p:cNvSpPr/>
          <p:nvPr/>
        </p:nvSpPr>
        <p:spPr>
          <a:xfrm>
            <a:off x="8008000" y="2080000"/>
            <a:ext cx="70000" cy="1975000"/>
          </a:xfrm>
          <a:prstGeom prst="rect">
            <a:avLst/>
          </a:prstGeom>
          <a:solidFill>
            <a:srgbClr val="B26A00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32" name="tx"/>
          <p:cNvSpPr/>
          <p:nvPr/>
        </p:nvSpPr>
        <p:spPr>
          <a:xfrm>
            <a:off x="8068000" y="2080000"/>
            <a:ext cx="3304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B26A00"/>
                </a:solidFill>
                <a:latin typeface="Calibri"/>
                <a:ea typeface="Malgun Gothic"/>
                <a:cs typeface="Calibri"/>
              </a:rPr>
              <a:t>CKR_MECHANISM_INVALID · 0x70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부적합 mechanism·파라미터</a:t>
            </a:r>
          </a:p>
        </p:txBody>
      </p:sp>
      <p:sp>
        <p:nvSpPr>
          <p:cNvPr id="133" name="card"/>
          <p:cNvSpPr/>
          <p:nvPr/>
        </p:nvSpPr>
        <p:spPr>
          <a:xfrm>
            <a:off x="760000" y="4255000"/>
            <a:ext cx="3424000" cy="1975000"/>
          </a:xfrm>
          <a:prstGeom prst="roundRect">
            <a:avLst/>
          </a:prstGeom>
          <a:solidFill>
            <a:srgbClr val="E9EFFB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34" name="cbar"/>
          <p:cNvSpPr/>
          <p:nvPr/>
        </p:nvSpPr>
        <p:spPr>
          <a:xfrm>
            <a:off x="760000" y="4255000"/>
            <a:ext cx="70000" cy="19750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35" name="tx"/>
          <p:cNvSpPr/>
          <p:nvPr/>
        </p:nvSpPr>
        <p:spPr>
          <a:xfrm>
            <a:off x="820000" y="4255000"/>
            <a:ext cx="3304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2F6BE0"/>
                </a:solidFill>
                <a:latin typeface="Calibri"/>
                <a:ea typeface="Malgun Gothic"/>
                <a:cs typeface="Calibri"/>
              </a:rPr>
              <a:t>CKR_SIGNATURE_INVALID · 0xC0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서명/MAC 검증 실패</a:t>
            </a:r>
          </a:p>
        </p:txBody>
      </p:sp>
      <p:sp>
        <p:nvSpPr>
          <p:cNvPr id="136" name="card"/>
          <p:cNvSpPr/>
          <p:nvPr/>
        </p:nvSpPr>
        <p:spPr>
          <a:xfrm>
            <a:off x="4384000" y="4255000"/>
            <a:ext cx="3424000" cy="1975000"/>
          </a:xfrm>
          <a:prstGeom prst="roundRect">
            <a:avLst/>
          </a:prstGeom>
          <a:solidFill>
            <a:srgbClr val="E9EFFB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37" name="cbar"/>
          <p:cNvSpPr/>
          <p:nvPr/>
        </p:nvSpPr>
        <p:spPr>
          <a:xfrm>
            <a:off x="4384000" y="4255000"/>
            <a:ext cx="70000" cy="19750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38" name="tx"/>
          <p:cNvSpPr/>
          <p:nvPr/>
        </p:nvSpPr>
        <p:spPr>
          <a:xfrm>
            <a:off x="4444000" y="4255000"/>
            <a:ext cx="3304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2F6BE0"/>
                </a:solidFill>
                <a:latin typeface="Calibri"/>
                <a:ea typeface="Malgun Gothic"/>
                <a:cs typeface="Calibri"/>
              </a:rPr>
              <a:t>CKR_PIN_INCORRECT · 0xA0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PIN 불일치</a:t>
            </a:r>
          </a:p>
        </p:txBody>
      </p:sp>
      <p:sp>
        <p:nvSpPr>
          <p:cNvPr id="139" name="card"/>
          <p:cNvSpPr/>
          <p:nvPr/>
        </p:nvSpPr>
        <p:spPr>
          <a:xfrm>
            <a:off x="8008000" y="4255000"/>
            <a:ext cx="3424000" cy="1975000"/>
          </a:xfrm>
          <a:prstGeom prst="roundRect">
            <a:avLst/>
          </a:prstGeom>
          <a:solidFill>
            <a:srgbClr val="E4F5F7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40" name="cbar"/>
          <p:cNvSpPr/>
          <p:nvPr/>
        </p:nvSpPr>
        <p:spPr>
          <a:xfrm>
            <a:off x="8008000" y="4255000"/>
            <a:ext cx="70000" cy="1975000"/>
          </a:xfrm>
          <a:prstGeom prst="rect">
            <a:avLst/>
          </a:prstGeom>
          <a:solidFill>
            <a:srgbClr val="12A8B8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41" name="tx"/>
          <p:cNvSpPr/>
          <p:nvPr/>
        </p:nvSpPr>
        <p:spPr>
          <a:xfrm>
            <a:off x="8068000" y="4255000"/>
            <a:ext cx="3304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2A8B8"/>
                </a:solidFill>
                <a:latin typeface="Calibri"/>
                <a:ea typeface="Malgun Gothic"/>
                <a:cs typeface="Calibri"/>
              </a:rPr>
              <a:t>CKR_ENCRYPTED_DATA_INVALID · 0x40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AEAD 태그 검증 실패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43" name="spine"/>
          <p:cNvSpPr/>
          <p:nvPr/>
        </p:nvSpPr>
        <p:spPr>
          <a:xfrm>
            <a:off x="0" y="0"/>
            <a:ext cx="132000" cy="68580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44" name="tx"/>
          <p:cNvSpPr/>
          <p:nvPr/>
        </p:nvSpPr>
        <p:spPr>
          <a:xfrm>
            <a:off x="760000" y="360000"/>
            <a:ext cx="1067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150" b="1" dirty="0">
                <a:solidFill>
                  <a:srgbClr val="2F6BE0"/>
                </a:solidFill>
                <a:latin typeface="Calibri"/>
                <a:ea typeface="Malgun Gothic"/>
                <a:cs typeface="Calibri"/>
              </a:rPr>
              <a:t>정리</a:t>
            </a:r>
          </a:p>
        </p:txBody>
      </p:sp>
      <p:sp>
        <p:nvSpPr>
          <p:cNvPr id="145" name="fl"/>
          <p:cNvSpPr/>
          <p:nvPr/>
        </p:nvSpPr>
        <p:spPr>
          <a:xfrm>
            <a:off x="760000" y="6388000"/>
            <a:ext cx="10672000" cy="10000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46" name="tx"/>
          <p:cNvSpPr/>
          <p:nvPr/>
        </p:nvSpPr>
        <p:spPr>
          <a:xfrm>
            <a:off x="760000" y="6438000"/>
            <a:ext cx="997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Token NCMP · Command Interface (CI)</a:t>
            </a:r>
          </a:p>
        </p:txBody>
      </p:sp>
      <p:sp>
        <p:nvSpPr>
          <p:cNvPr id="147" name="tx"/>
          <p:cNvSpPr/>
          <p:nvPr/>
        </p:nvSpPr>
        <p:spPr>
          <a:xfrm>
            <a:off x="10732000" y="6438000"/>
            <a:ext cx="7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12</a:t>
            </a:r>
          </a:p>
        </p:txBody>
      </p:sp>
      <p:sp>
        <p:nvSpPr>
          <p:cNvPr id="148" name="tx"/>
          <p:cNvSpPr/>
          <p:nvPr/>
        </p:nvSpPr>
        <p:spPr>
          <a:xfrm>
            <a:off x="760000" y="640000"/>
            <a:ext cx="10672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300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정리 — 호스트 어댑터 대응</a:t>
            </a:r>
          </a:p>
        </p:txBody>
      </p:sp>
      <p:sp>
        <p:nvSpPr>
          <p:cNvPr id="149" name="ul"/>
          <p:cNvSpPr/>
          <p:nvPr/>
        </p:nvSpPr>
        <p:spPr>
          <a:xfrm>
            <a:off x="770000" y="1760000"/>
            <a:ext cx="720000" cy="600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50" name="tx"/>
          <p:cNvSpPr/>
          <p:nvPr/>
        </p:nvSpPr>
        <p:spPr>
          <a:xfrm>
            <a:off x="760000" y="2060000"/>
            <a:ext cx="10672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RNG·DIGEST·AES·PQC·SHAKE → 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ncmp_crypto_*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(ncmp/stdll/ncmp_crypto.c)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LOGIN·PIN·TOKEN_INFO → 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ncmp_admin_*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(ncmp/stdll/ncmp_admin.c)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전송 프리미티브 → 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ncmp_client_command[_mp]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프레임 인코딩/디코딩 → 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ncmp_wire_encode/decode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참조 구현(디바이스 측) → </a:t>
            </a:r>
            <a:r>
              <a:rPr lang="ko-KR" sz="1750" dirty="0">
                <a:solidFill>
                  <a:srgbClr val="2F6BE0"/>
                </a:solidFill>
                <a:latin typeface="Consolas"/>
                <a:ea typeface="Malgun Gothic"/>
                <a:cs typeface="Consolas"/>
              </a:rPr>
              <a:t>ncmp/mock/mcu_scheduler.c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현재 광고 표면: AES-GCM/CTR · SHA-2/3 · SHAKE · ML-KEM · ML-DSA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CMP">
  <a:themeElements>
    <a:clrScheme name="NCMP">
      <a:dk1>
        <a:sysClr val="windowText" lastClr="000000"/>
      </a:dk1>
      <a:lt1>
        <a:sysClr val="window" lastClr="FFFFFF"/>
      </a:lt1>
      <a:dk2>
        <a:srgbClr val="10233B"/>
      </a:dk2>
      <a:lt2>
        <a:srgbClr val="ECF1F6"/>
      </a:lt2>
      <a:accent1>
        <a:srgbClr val="2F6BE0"/>
      </a:accent1>
      <a:accent2>
        <a:srgbClr val="12A8B8"/>
      </a:accent2>
      <a:accent3>
        <a:srgbClr val="10233B"/>
      </a:accent3>
      <a:accent4>
        <a:srgbClr val="5C6A79"/>
      </a:accent4>
      <a:accent5>
        <a:srgbClr val="2F6BE0"/>
      </a:accent5>
      <a:accent6>
        <a:srgbClr val="12A8B8"/>
      </a:accent6>
      <a:hlink>
        <a:srgbClr val="2F6BE0"/>
      </a:hlink>
      <a:folHlink>
        <a:srgbClr val="2F6BE0"/>
      </a:folHlink>
    </a:clrScheme>
    <a:fontScheme name="NCMP">
      <a:majorFont>
        <a:latin typeface="Calibri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NCMP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>
            <a:shade val="78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Command Interface (CI)</dc:title>
  <dc:creator>Token NCMP</dc:creator>
  <cp:lastModifiedBy>Token NCMP</cp:lastModifiedBy>
  <dcterms:created xsi:type="dcterms:W3CDTF">2026-09-02T12:51:32Z</dcterms:created>
  <dcterms:modified xsi:type="dcterms:W3CDTF">2026-09-02T12:51:32Z</dcterms:modified>
</cp:coreProperties>
</file>