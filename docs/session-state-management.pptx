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200">
          <a:latin typeface="Calibri"/>
          <a:ea typeface="Malgun Gothic"/>
        </a:defRPr>
      </a:lvl1pPr>
    </p:titleStyle>
    <p:bodyStyle>
      <a:lvl1pPr>
        <a:defRPr sz="1800">
          <a:latin typeface="Calibri"/>
          <a:ea typeface="Malgun Gothic"/>
        </a:defRPr>
      </a:lvl1pPr>
    </p:bodyStyle>
    <p:otherStyle>
      <a:lvl1pPr>
        <a:defRPr sz="1800">
          <a:latin typeface="Calibri"/>
          <a:ea typeface="Malgun Gothic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62B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52" name="spine"/>
          <p:cNvSpPr/>
          <p:nvPr/>
        </p:nvSpPr>
        <p:spPr>
          <a:xfrm>
            <a:off x="0" y="0"/>
            <a:ext cx="210000" cy="6858000"/>
          </a:xfrm>
          <a:prstGeom prst="rect">
            <a:avLst/>
          </a:prstGeom>
          <a:solidFill>
            <a:srgbClr val="17827A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53" name="blk"/>
          <p:cNvSpPr/>
          <p:nvPr/>
        </p:nvSpPr>
        <p:spPr>
          <a:xfrm>
            <a:off x="9592000" y="0"/>
            <a:ext cx="2600000" cy="6858000"/>
          </a:xfrm>
          <a:prstGeom prst="rect">
            <a:avLst/>
          </a:prstGeom>
          <a:solidFill>
            <a:srgbClr val="17383D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54" name="blkln"/>
          <p:cNvSpPr/>
          <p:nvPr/>
        </p:nvSpPr>
        <p:spPr>
          <a:xfrm>
            <a:off x="9592000" y="0"/>
            <a:ext cx="60000" cy="6858000"/>
          </a:xfrm>
          <a:prstGeom prst="rect">
            <a:avLst/>
          </a:prstGeom>
          <a:solidFill>
            <a:srgbClr val="17827A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55" name="tx"/>
          <p:cNvSpPr/>
          <p:nvPr/>
        </p:nvSpPr>
        <p:spPr>
          <a:xfrm>
            <a:off x="920000" y="1500000"/>
            <a:ext cx="8292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400" b="1" dirty="0">
                <a:solidFill>
                  <a:srgbClr val="17827A"/>
                </a:solidFill>
                <a:latin typeface="Calibri"/>
                <a:ea typeface="Malgun Gothic"/>
                <a:cs typeface="Calibri"/>
              </a:rPr>
              <a:t>세션 상태 관리</a:t>
            </a:r>
          </a:p>
        </p:txBody>
      </p:sp>
      <p:sp>
        <p:nvSpPr>
          <p:cNvPr id="156" name="tx"/>
          <p:cNvSpPr/>
          <p:nvPr/>
        </p:nvSpPr>
        <p:spPr>
          <a:xfrm>
            <a:off x="900000" y="1950000"/>
            <a:ext cx="8592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5400" b="1" dirty="0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세션 상태 관리</a:t>
            </a:r>
          </a:p>
        </p:txBody>
      </p:sp>
      <p:sp>
        <p:nvSpPr>
          <p:cNvPr id="157" name="tx"/>
          <p:cNvSpPr/>
          <p:nvPr/>
        </p:nvSpPr>
        <p:spPr>
          <a:xfrm>
            <a:off x="920000" y="4350000"/>
            <a:ext cx="8592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ko-KR" sz="2000" dirty="0">
                <a:solidFill>
                  <a:srgbClr val="AEB9C6"/>
                </a:solidFill>
                <a:latin typeface="Calibri"/>
                <a:ea typeface="Malgun Gothic"/>
                <a:cs typeface="Calibri"/>
              </a:rPr>
              <a:t>다중 접근 · 세션별 연산 중간 상태 · NVM vs 휘발성(RAM) 저장 항목</a:t>
            </a:r>
          </a:p>
        </p:txBody>
      </p:sp>
      <p:sp>
        <p:nvSpPr>
          <p:cNvPr id="158" name="tx"/>
          <p:cNvSpPr/>
          <p:nvPr/>
        </p:nvSpPr>
        <p:spPr>
          <a:xfrm>
            <a:off x="920000" y="5300000"/>
            <a:ext cx="8592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250000" indent="-250000" algn="l">
              <a:lnSpc>
                <a:spcPct val="108000"/>
              </a:lnSpc>
              <a:spcBef>
                <a:spcPts val="120"/>
              </a:spcBef>
              <a:buFont typeface="Arial"/>
              <a:buChar char="—"/>
            </a:pPr>
            <a:r>
              <a:rPr lang="ko-KR" sz="1150" dirty="0">
                <a:solidFill>
                  <a:srgbClr val="AEB9C6"/>
                </a:solidFill>
                <a:latin typeface="Calibri"/>
                <a:ea typeface="Malgun Gothic"/>
                <a:cs typeface="Calibri"/>
              </a:rPr>
              <a:t>다수 App × 다수 스레드가 하나의 토큰에 동시 접근</a:t>
            </a:r>
          </a:p>
          <a:p>
            <a:pPr marL="250000" indent="-250000" algn="l">
              <a:lnSpc>
                <a:spcPct val="108000"/>
              </a:lnSpc>
              <a:spcBef>
                <a:spcPts val="120"/>
              </a:spcBef>
              <a:buFont typeface="Arial"/>
              <a:buChar char="—"/>
            </a:pPr>
            <a:r>
              <a:rPr lang="ko-KR" sz="1150" dirty="0">
                <a:solidFill>
                  <a:srgbClr val="AEB9C6"/>
                </a:solidFill>
                <a:latin typeface="Calibri"/>
                <a:ea typeface="Malgun Gothic"/>
                <a:cs typeface="Calibri"/>
              </a:rPr>
              <a:t>토큰은 세션별 중간 상태를 load → process → save</a:t>
            </a:r>
          </a:p>
          <a:p>
            <a:pPr marL="250000" indent="-250000" algn="l">
              <a:lnSpc>
                <a:spcPct val="108000"/>
              </a:lnSpc>
              <a:spcBef>
                <a:spcPts val="120"/>
              </a:spcBef>
              <a:buFont typeface="Arial"/>
              <a:buChar char="—"/>
            </a:pPr>
            <a:r>
              <a:rPr lang="ko-KR" sz="1150" dirty="0">
                <a:solidFill>
                  <a:srgbClr val="AEB9C6"/>
                </a:solidFill>
                <a:latin typeface="Calibri"/>
                <a:ea typeface="Malgun Gothic"/>
                <a:cs typeface="Calibri"/>
              </a:rPr>
              <a:t>관리 항목을 비휘발성(NVM) / 휘발성(RAM)으로 구분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60" name="spine"/>
          <p:cNvSpPr/>
          <p:nvPr/>
        </p:nvSpPr>
        <p:spPr>
          <a:xfrm>
            <a:off x="0" y="0"/>
            <a:ext cx="132000" cy="6858000"/>
          </a:xfrm>
          <a:prstGeom prst="rect">
            <a:avLst/>
          </a:prstGeom>
          <a:solidFill>
            <a:srgbClr val="17827A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61" name="tx"/>
          <p:cNvSpPr/>
          <p:nvPr/>
        </p:nvSpPr>
        <p:spPr>
          <a:xfrm>
            <a:off x="760000" y="360000"/>
            <a:ext cx="10672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150" b="1" dirty="0">
                <a:solidFill>
                  <a:srgbClr val="17827A"/>
                </a:solidFill>
                <a:latin typeface="Calibri"/>
                <a:ea typeface="Malgun Gothic"/>
                <a:cs typeface="Calibri"/>
              </a:rPr>
              <a:t>개요</a:t>
            </a:r>
          </a:p>
        </p:txBody>
      </p:sp>
      <p:sp>
        <p:nvSpPr>
          <p:cNvPr id="162" name="fl"/>
          <p:cNvSpPr/>
          <p:nvPr/>
        </p:nvSpPr>
        <p:spPr>
          <a:xfrm>
            <a:off x="760000" y="6388000"/>
            <a:ext cx="10672000" cy="10000"/>
          </a:xfrm>
          <a:prstGeom prst="rect">
            <a:avLst/>
          </a:prstGeom>
          <a:solidFill>
            <a:srgbClr val="D7DDE4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63" name="tx"/>
          <p:cNvSpPr/>
          <p:nvPr/>
        </p:nvSpPr>
        <p:spPr>
          <a:xfrm>
            <a:off x="760000" y="6438000"/>
            <a:ext cx="9972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0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Token NCMP · 세션 상태 관리</a:t>
            </a:r>
          </a:p>
        </p:txBody>
      </p:sp>
      <p:sp>
        <p:nvSpPr>
          <p:cNvPr id="164" name="tx"/>
          <p:cNvSpPr/>
          <p:nvPr/>
        </p:nvSpPr>
        <p:spPr>
          <a:xfrm>
            <a:off x="10732000" y="6438000"/>
            <a:ext cx="7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0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02</a:t>
            </a:r>
          </a:p>
        </p:txBody>
      </p:sp>
      <p:sp>
        <p:nvSpPr>
          <p:cNvPr id="165" name="tx"/>
          <p:cNvSpPr/>
          <p:nvPr/>
        </p:nvSpPr>
        <p:spPr>
          <a:xfrm>
            <a:off x="760000" y="640000"/>
            <a:ext cx="10672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300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세 가지 요건</a:t>
            </a:r>
          </a:p>
        </p:txBody>
      </p:sp>
      <p:sp>
        <p:nvSpPr>
          <p:cNvPr id="166" name="ul"/>
          <p:cNvSpPr/>
          <p:nvPr/>
        </p:nvSpPr>
        <p:spPr>
          <a:xfrm>
            <a:off x="770000" y="1760000"/>
            <a:ext cx="720000" cy="60000"/>
          </a:xfrm>
          <a:prstGeom prst="rect">
            <a:avLst/>
          </a:prstGeom>
          <a:solidFill>
            <a:srgbClr val="17827A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67" name="card"/>
          <p:cNvSpPr/>
          <p:nvPr/>
        </p:nvSpPr>
        <p:spPr>
          <a:xfrm>
            <a:off x="760000" y="2080000"/>
            <a:ext cx="3424000" cy="4150000"/>
          </a:xfrm>
          <a:prstGeom prst="roundRect">
            <a:avLst/>
          </a:prstGeom>
          <a:solidFill>
            <a:srgbClr val="E3F2EF"/>
          </a:solidFill>
          <a:ln w="9525">
            <a:solidFill>
              <a:srgbClr val="D7DDE4"/>
            </a:solidFill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68" name="cbar"/>
          <p:cNvSpPr/>
          <p:nvPr/>
        </p:nvSpPr>
        <p:spPr>
          <a:xfrm>
            <a:off x="760000" y="2080000"/>
            <a:ext cx="70000" cy="4150000"/>
          </a:xfrm>
          <a:prstGeom prst="rect">
            <a:avLst/>
          </a:prstGeom>
          <a:solidFill>
            <a:srgbClr val="17827A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69" name="tx"/>
          <p:cNvSpPr/>
          <p:nvPr/>
        </p:nvSpPr>
        <p:spPr>
          <a:xfrm>
            <a:off x="820000" y="2080000"/>
            <a:ext cx="3304000" cy="4150000"/>
          </a:xfrm>
          <a:prstGeom prst="rect">
            <a:avLst/>
          </a:prstGeom>
          <a:noFill/>
          <a:ln>
            <a:noFill/>
          </a:ln>
        </p:spPr>
        <p:txBody>
          <a:bodyPr wrap="square" lIns="150000" tIns="120000" rIns="150000" bIns="120000" anchor="ctr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7827A"/>
                </a:solidFill>
                <a:latin typeface="Calibri"/>
                <a:ea typeface="Malgun Gothic"/>
                <a:cs typeface="Calibri"/>
              </a:rPr>
              <a:t>동시 접근</a:t>
            </a:r>
          </a:p>
          <a:p>
            <a:pPr marL="0" indent="0" algn="l">
              <a:lnSpc>
                <a:spcPct val="112000"/>
              </a:lnSpc>
              <a:spcBef>
                <a:spcPts val="400"/>
              </a:spcBef>
              <a:buNone/>
            </a:pPr>
            <a:r>
              <a:rPr lang="ko-KR" sz="11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다수 프로세스 × 스레드가 같은 토큰 사용. ncmpd가 다중화하되 명령은 인터리빙되어 도착</a:t>
            </a:r>
          </a:p>
        </p:txBody>
      </p:sp>
      <p:sp>
        <p:nvSpPr>
          <p:cNvPr id="170" name="card"/>
          <p:cNvSpPr/>
          <p:nvPr/>
        </p:nvSpPr>
        <p:spPr>
          <a:xfrm>
            <a:off x="4384000" y="2080000"/>
            <a:ext cx="3424000" cy="4150000"/>
          </a:xfrm>
          <a:prstGeom prst="roundRect">
            <a:avLst/>
          </a:prstGeom>
          <a:solidFill>
            <a:srgbClr val="E3F2EF"/>
          </a:solidFill>
          <a:ln w="9525">
            <a:solidFill>
              <a:srgbClr val="D7DDE4"/>
            </a:solidFill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71" name="cbar"/>
          <p:cNvSpPr/>
          <p:nvPr/>
        </p:nvSpPr>
        <p:spPr>
          <a:xfrm>
            <a:off x="4384000" y="2080000"/>
            <a:ext cx="70000" cy="4150000"/>
          </a:xfrm>
          <a:prstGeom prst="rect">
            <a:avLst/>
          </a:prstGeom>
          <a:solidFill>
            <a:srgbClr val="17827A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72" name="tx"/>
          <p:cNvSpPr/>
          <p:nvPr/>
        </p:nvSpPr>
        <p:spPr>
          <a:xfrm>
            <a:off x="4444000" y="2080000"/>
            <a:ext cx="3304000" cy="4150000"/>
          </a:xfrm>
          <a:prstGeom prst="rect">
            <a:avLst/>
          </a:prstGeom>
          <a:noFill/>
          <a:ln>
            <a:noFill/>
          </a:ln>
        </p:spPr>
        <p:txBody>
          <a:bodyPr wrap="square" lIns="150000" tIns="120000" rIns="150000" bIns="120000" anchor="ctr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7827A"/>
                </a:solidFill>
                <a:latin typeface="Calibri"/>
                <a:ea typeface="Malgun Gothic"/>
                <a:cs typeface="Calibri"/>
              </a:rPr>
              <a:t>세션별 상태 유지</a:t>
            </a:r>
          </a:p>
          <a:p>
            <a:pPr marL="0" indent="0" algn="l">
              <a:lnSpc>
                <a:spcPct val="112000"/>
              </a:lnSpc>
              <a:spcBef>
                <a:spcPts val="400"/>
              </a:spcBef>
              <a:buNone/>
            </a:pPr>
            <a:r>
              <a:rPr lang="ko-KR" sz="11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멀티파트 해시·AES-GCM·스트리밍 서명은 여러 명령에 걸쳐 진행 — 중간 상태 보관</a:t>
            </a:r>
          </a:p>
        </p:txBody>
      </p:sp>
      <p:sp>
        <p:nvSpPr>
          <p:cNvPr id="173" name="card"/>
          <p:cNvSpPr/>
          <p:nvPr/>
        </p:nvSpPr>
        <p:spPr>
          <a:xfrm>
            <a:off x="8008000" y="2080000"/>
            <a:ext cx="3424000" cy="4150000"/>
          </a:xfrm>
          <a:prstGeom prst="roundRect">
            <a:avLst/>
          </a:prstGeom>
          <a:solidFill>
            <a:srgbClr val="E3F2EF"/>
          </a:solidFill>
          <a:ln w="9525">
            <a:solidFill>
              <a:srgbClr val="D7DDE4"/>
            </a:solidFill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74" name="cbar"/>
          <p:cNvSpPr/>
          <p:nvPr/>
        </p:nvSpPr>
        <p:spPr>
          <a:xfrm>
            <a:off x="8008000" y="2080000"/>
            <a:ext cx="70000" cy="4150000"/>
          </a:xfrm>
          <a:prstGeom prst="rect">
            <a:avLst/>
          </a:prstGeom>
          <a:solidFill>
            <a:srgbClr val="17827A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75" name="tx"/>
          <p:cNvSpPr/>
          <p:nvPr/>
        </p:nvSpPr>
        <p:spPr>
          <a:xfrm>
            <a:off x="8068000" y="2080000"/>
            <a:ext cx="3304000" cy="4150000"/>
          </a:xfrm>
          <a:prstGeom prst="rect">
            <a:avLst/>
          </a:prstGeom>
          <a:noFill/>
          <a:ln>
            <a:noFill/>
          </a:ln>
        </p:spPr>
        <p:txBody>
          <a:bodyPr wrap="square" lIns="150000" tIns="120000" rIns="150000" bIns="120000" anchor="ctr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7827A"/>
                </a:solidFill>
                <a:latin typeface="Calibri"/>
                <a:ea typeface="Malgun Gothic"/>
                <a:cs typeface="Calibri"/>
              </a:rPr>
              <a:t>load → 처리 → save</a:t>
            </a:r>
          </a:p>
          <a:p>
            <a:pPr marL="0" indent="0" algn="l">
              <a:lnSpc>
                <a:spcPct val="112000"/>
              </a:lnSpc>
              <a:spcBef>
                <a:spcPts val="400"/>
              </a:spcBef>
              <a:buNone/>
            </a:pPr>
            <a:r>
              <a:rPr lang="ko-KR" sz="11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다음 명령이 오면 이전 컨텍스트를 로드해 이어서 처리하고 갱신 상태 저장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77" name="spine"/>
          <p:cNvSpPr/>
          <p:nvPr/>
        </p:nvSpPr>
        <p:spPr>
          <a:xfrm>
            <a:off x="0" y="0"/>
            <a:ext cx="132000" cy="6858000"/>
          </a:xfrm>
          <a:prstGeom prst="rect">
            <a:avLst/>
          </a:prstGeom>
          <a:solidFill>
            <a:srgbClr val="17827A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78" name="tx"/>
          <p:cNvSpPr/>
          <p:nvPr/>
        </p:nvSpPr>
        <p:spPr>
          <a:xfrm>
            <a:off x="760000" y="360000"/>
            <a:ext cx="10672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150" b="1" dirty="0">
                <a:solidFill>
                  <a:srgbClr val="17827A"/>
                </a:solidFill>
                <a:latin typeface="Calibri"/>
                <a:ea typeface="Malgun Gothic"/>
                <a:cs typeface="Calibri"/>
              </a:rPr>
              <a:t>모델</a:t>
            </a:r>
          </a:p>
        </p:txBody>
      </p:sp>
      <p:sp>
        <p:nvSpPr>
          <p:cNvPr id="179" name="fl"/>
          <p:cNvSpPr/>
          <p:nvPr/>
        </p:nvSpPr>
        <p:spPr>
          <a:xfrm>
            <a:off x="760000" y="6388000"/>
            <a:ext cx="10672000" cy="10000"/>
          </a:xfrm>
          <a:prstGeom prst="rect">
            <a:avLst/>
          </a:prstGeom>
          <a:solidFill>
            <a:srgbClr val="D7DDE4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80" name="tx"/>
          <p:cNvSpPr/>
          <p:nvPr/>
        </p:nvSpPr>
        <p:spPr>
          <a:xfrm>
            <a:off x="760000" y="6438000"/>
            <a:ext cx="9972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0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Token NCMP · 세션 상태 관리</a:t>
            </a:r>
          </a:p>
        </p:txBody>
      </p:sp>
      <p:sp>
        <p:nvSpPr>
          <p:cNvPr id="181" name="tx"/>
          <p:cNvSpPr/>
          <p:nvPr/>
        </p:nvSpPr>
        <p:spPr>
          <a:xfrm>
            <a:off x="10732000" y="6438000"/>
            <a:ext cx="7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0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03</a:t>
            </a:r>
          </a:p>
        </p:txBody>
      </p:sp>
      <p:sp>
        <p:nvSpPr>
          <p:cNvPr id="182" name="tx"/>
          <p:cNvSpPr/>
          <p:nvPr/>
        </p:nvSpPr>
        <p:spPr>
          <a:xfrm>
            <a:off x="760000" y="640000"/>
            <a:ext cx="10672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300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동작 모델</a:t>
            </a:r>
          </a:p>
        </p:txBody>
      </p:sp>
      <p:sp>
        <p:nvSpPr>
          <p:cNvPr id="183" name="ul"/>
          <p:cNvSpPr/>
          <p:nvPr/>
        </p:nvSpPr>
        <p:spPr>
          <a:xfrm>
            <a:off x="770000" y="1760000"/>
            <a:ext cx="720000" cy="60000"/>
          </a:xfrm>
          <a:prstGeom prst="rect">
            <a:avLst/>
          </a:prstGeom>
          <a:solidFill>
            <a:srgbClr val="17827A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84" name="tx"/>
          <p:cNvSpPr/>
          <p:nvPr/>
        </p:nvSpPr>
        <p:spPr>
          <a:xfrm>
            <a:off x="760000" y="2060000"/>
            <a:ext cx="10672000" cy="4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호스트는 요청을 다중화해 순서대로 전송, 토큰은 </a:t>
            </a:r>
            <a:r>
              <a:rPr lang="ko-KR" sz="1750" dirty="0">
                <a:solidFill>
                  <a:srgbClr val="17827A"/>
                </a:solidFill>
                <a:latin typeface="Consolas"/>
                <a:ea typeface="Malgun Gothic"/>
                <a:cs typeface="Consolas"/>
              </a:rPr>
              <a:t>session_id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로 세션 식별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PKCS#11 연산은 상태 기계: </a:t>
            </a:r>
            <a:r>
              <a:rPr lang="ko-KR" sz="1750" dirty="0">
                <a:solidFill>
                  <a:srgbClr val="17827A"/>
                </a:solidFill>
                <a:latin typeface="Consolas"/>
                <a:ea typeface="Malgun Gothic"/>
                <a:cs typeface="Consolas"/>
              </a:rPr>
              <a:t>Init → Update* → Final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각 활성 세션마다 진행 중 연산의 </a:t>
            </a:r>
            <a:r>
              <a:rPr lang="ko-KR" sz="175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엔진 상태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를 보관·격리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명령과 명령 사이에 다른 세션이 엔진을 점유할 수 있음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무엇을 </a:t>
            </a:r>
            <a:r>
              <a:rPr lang="ko-KR" sz="175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어디에(NVM/RAM)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저장하느냐가 핵심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86" name="spine"/>
          <p:cNvSpPr/>
          <p:nvPr/>
        </p:nvSpPr>
        <p:spPr>
          <a:xfrm>
            <a:off x="0" y="0"/>
            <a:ext cx="132000" cy="6858000"/>
          </a:xfrm>
          <a:prstGeom prst="rect">
            <a:avLst/>
          </a:prstGeom>
          <a:solidFill>
            <a:srgbClr val="17827A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87" name="tx"/>
          <p:cNvSpPr/>
          <p:nvPr/>
        </p:nvSpPr>
        <p:spPr>
          <a:xfrm>
            <a:off x="760000" y="360000"/>
            <a:ext cx="10672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150" b="1" dirty="0">
                <a:solidFill>
                  <a:srgbClr val="17827A"/>
                </a:solidFill>
                <a:latin typeface="Calibri"/>
                <a:ea typeface="Malgun Gothic"/>
                <a:cs typeface="Calibri"/>
              </a:rPr>
              <a:t>흐름</a:t>
            </a:r>
          </a:p>
        </p:txBody>
      </p:sp>
      <p:sp>
        <p:nvSpPr>
          <p:cNvPr id="188" name="fl"/>
          <p:cNvSpPr/>
          <p:nvPr/>
        </p:nvSpPr>
        <p:spPr>
          <a:xfrm>
            <a:off x="760000" y="6388000"/>
            <a:ext cx="10672000" cy="10000"/>
          </a:xfrm>
          <a:prstGeom prst="rect">
            <a:avLst/>
          </a:prstGeom>
          <a:solidFill>
            <a:srgbClr val="D7DDE4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89" name="tx"/>
          <p:cNvSpPr/>
          <p:nvPr/>
        </p:nvSpPr>
        <p:spPr>
          <a:xfrm>
            <a:off x="760000" y="6438000"/>
            <a:ext cx="9972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0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Token NCMP · 세션 상태 관리</a:t>
            </a:r>
          </a:p>
        </p:txBody>
      </p:sp>
      <p:sp>
        <p:nvSpPr>
          <p:cNvPr id="190" name="tx"/>
          <p:cNvSpPr/>
          <p:nvPr/>
        </p:nvSpPr>
        <p:spPr>
          <a:xfrm>
            <a:off x="10732000" y="6438000"/>
            <a:ext cx="7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0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04</a:t>
            </a:r>
          </a:p>
        </p:txBody>
      </p:sp>
      <p:sp>
        <p:nvSpPr>
          <p:cNvPr id="191" name="tx"/>
          <p:cNvSpPr/>
          <p:nvPr/>
        </p:nvSpPr>
        <p:spPr>
          <a:xfrm>
            <a:off x="760000" y="640000"/>
            <a:ext cx="10672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300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명령 처리 6단계</a:t>
            </a:r>
          </a:p>
        </p:txBody>
      </p:sp>
      <p:sp>
        <p:nvSpPr>
          <p:cNvPr id="192" name="ul"/>
          <p:cNvSpPr/>
          <p:nvPr/>
        </p:nvSpPr>
        <p:spPr>
          <a:xfrm>
            <a:off x="770000" y="1760000"/>
            <a:ext cx="720000" cy="60000"/>
          </a:xfrm>
          <a:prstGeom prst="rect">
            <a:avLst/>
          </a:prstGeom>
          <a:solidFill>
            <a:srgbClr val="17827A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93" name="card"/>
          <p:cNvSpPr/>
          <p:nvPr/>
        </p:nvSpPr>
        <p:spPr>
          <a:xfrm>
            <a:off x="760000" y="2080000"/>
            <a:ext cx="3424000" cy="1975000"/>
          </a:xfrm>
          <a:prstGeom prst="roundRect">
            <a:avLst/>
          </a:prstGeom>
          <a:solidFill>
            <a:srgbClr val="E3F2EF"/>
          </a:solidFill>
          <a:ln w="9525">
            <a:solidFill>
              <a:srgbClr val="D7DDE4"/>
            </a:solidFill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94" name="cbar"/>
          <p:cNvSpPr/>
          <p:nvPr/>
        </p:nvSpPr>
        <p:spPr>
          <a:xfrm>
            <a:off x="760000" y="2080000"/>
            <a:ext cx="70000" cy="1975000"/>
          </a:xfrm>
          <a:prstGeom prst="rect">
            <a:avLst/>
          </a:prstGeom>
          <a:solidFill>
            <a:srgbClr val="17827A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95" name="tx"/>
          <p:cNvSpPr/>
          <p:nvPr/>
        </p:nvSpPr>
        <p:spPr>
          <a:xfrm>
            <a:off x="820000" y="2080000"/>
            <a:ext cx="3304000" cy="1975000"/>
          </a:xfrm>
          <a:prstGeom prst="rect">
            <a:avLst/>
          </a:prstGeom>
          <a:noFill/>
          <a:ln>
            <a:noFill/>
          </a:ln>
        </p:spPr>
        <p:txBody>
          <a:bodyPr wrap="square" lIns="150000" tIns="120000" rIns="150000" bIns="120000" anchor="ctr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7827A"/>
                </a:solidFill>
                <a:latin typeface="Calibri"/>
                <a:ea typeface="Malgun Gothic"/>
                <a:cs typeface="Calibri"/>
              </a:rPr>
              <a:t>1 · 수신</a:t>
            </a:r>
          </a:p>
          <a:p>
            <a:pPr marL="0" indent="0" algn="l">
              <a:lnSpc>
                <a:spcPct val="112000"/>
              </a:lnSpc>
              <a:spcBef>
                <a:spcPts val="400"/>
              </a:spcBef>
              <a:buNone/>
            </a:pPr>
            <a:r>
              <a:rPr lang="ko-KR" sz="11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프레임 파싱 (session/sequence/command/params)</a:t>
            </a:r>
          </a:p>
        </p:txBody>
      </p:sp>
      <p:sp>
        <p:nvSpPr>
          <p:cNvPr id="196" name="card"/>
          <p:cNvSpPr/>
          <p:nvPr/>
        </p:nvSpPr>
        <p:spPr>
          <a:xfrm>
            <a:off x="4384000" y="2080000"/>
            <a:ext cx="3424000" cy="1975000"/>
          </a:xfrm>
          <a:prstGeom prst="roundRect">
            <a:avLst/>
          </a:prstGeom>
          <a:solidFill>
            <a:srgbClr val="E3F2EF"/>
          </a:solidFill>
          <a:ln w="9525">
            <a:solidFill>
              <a:srgbClr val="D7DDE4"/>
            </a:solidFill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97" name="cbar"/>
          <p:cNvSpPr/>
          <p:nvPr/>
        </p:nvSpPr>
        <p:spPr>
          <a:xfrm>
            <a:off x="4384000" y="2080000"/>
            <a:ext cx="70000" cy="1975000"/>
          </a:xfrm>
          <a:prstGeom prst="rect">
            <a:avLst/>
          </a:prstGeom>
          <a:solidFill>
            <a:srgbClr val="17827A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198" name="tx"/>
          <p:cNvSpPr/>
          <p:nvPr/>
        </p:nvSpPr>
        <p:spPr>
          <a:xfrm>
            <a:off x="4444000" y="2080000"/>
            <a:ext cx="3304000" cy="1975000"/>
          </a:xfrm>
          <a:prstGeom prst="rect">
            <a:avLst/>
          </a:prstGeom>
          <a:noFill/>
          <a:ln>
            <a:noFill/>
          </a:ln>
        </p:spPr>
        <p:txBody>
          <a:bodyPr wrap="square" lIns="150000" tIns="120000" rIns="150000" bIns="120000" anchor="ctr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7827A"/>
                </a:solidFill>
                <a:latin typeface="Calibri"/>
                <a:ea typeface="Malgun Gothic"/>
                <a:cs typeface="Calibri"/>
              </a:rPr>
              <a:t>2 · 인증 검사</a:t>
            </a:r>
          </a:p>
          <a:p>
            <a:pPr marL="0" indent="0" algn="l">
              <a:lnSpc>
                <a:spcPct val="112000"/>
              </a:lnSpc>
              <a:spcBef>
                <a:spcPts val="400"/>
              </a:spcBef>
              <a:buNone/>
            </a:pPr>
            <a:r>
              <a:rPr lang="ko-KR" sz="11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연산이 요구하는 로그인·권한 확인</a:t>
            </a:r>
          </a:p>
        </p:txBody>
      </p:sp>
      <p:sp>
        <p:nvSpPr>
          <p:cNvPr id="199" name="card"/>
          <p:cNvSpPr/>
          <p:nvPr/>
        </p:nvSpPr>
        <p:spPr>
          <a:xfrm>
            <a:off x="8008000" y="2080000"/>
            <a:ext cx="3424000" cy="1975000"/>
          </a:xfrm>
          <a:prstGeom prst="roundRect">
            <a:avLst/>
          </a:prstGeom>
          <a:solidFill>
            <a:srgbClr val="D7ECE8"/>
          </a:solidFill>
          <a:ln w="9525">
            <a:solidFill>
              <a:srgbClr val="D7DDE4"/>
            </a:solidFill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00" name="cbar"/>
          <p:cNvSpPr/>
          <p:nvPr/>
        </p:nvSpPr>
        <p:spPr>
          <a:xfrm>
            <a:off x="8008000" y="2080000"/>
            <a:ext cx="70000" cy="1975000"/>
          </a:xfrm>
          <a:prstGeom prst="rect">
            <a:avLst/>
          </a:prstGeom>
          <a:solidFill>
            <a:srgbClr val="0E756B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01" name="tx"/>
          <p:cNvSpPr/>
          <p:nvPr/>
        </p:nvSpPr>
        <p:spPr>
          <a:xfrm>
            <a:off x="8068000" y="2080000"/>
            <a:ext cx="3304000" cy="1975000"/>
          </a:xfrm>
          <a:prstGeom prst="rect">
            <a:avLst/>
          </a:prstGeom>
          <a:noFill/>
          <a:ln>
            <a:noFill/>
          </a:ln>
        </p:spPr>
        <p:txBody>
          <a:bodyPr wrap="square" lIns="150000" tIns="120000" rIns="150000" bIns="120000" anchor="ctr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0E756B"/>
                </a:solidFill>
                <a:latin typeface="Calibri"/>
                <a:ea typeface="Malgun Gothic"/>
                <a:cs typeface="Calibri"/>
              </a:rPr>
              <a:t>3 · 컨텍스트 load</a:t>
            </a:r>
          </a:p>
          <a:p>
            <a:pPr marL="0" indent="0" algn="l">
              <a:lnSpc>
                <a:spcPct val="112000"/>
              </a:lnSpc>
              <a:spcBef>
                <a:spcPts val="400"/>
              </a:spcBef>
              <a:buNone/>
            </a:pPr>
            <a:r>
              <a:rPr lang="ko-KR" sz="11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session_id로 조회 → 진행 중이면 상태 로드</a:t>
            </a:r>
          </a:p>
        </p:txBody>
      </p:sp>
      <p:sp>
        <p:nvSpPr>
          <p:cNvPr id="202" name="card"/>
          <p:cNvSpPr/>
          <p:nvPr/>
        </p:nvSpPr>
        <p:spPr>
          <a:xfrm>
            <a:off x="760000" y="4255000"/>
            <a:ext cx="3424000" cy="1975000"/>
          </a:xfrm>
          <a:prstGeom prst="roundRect">
            <a:avLst/>
          </a:prstGeom>
          <a:solidFill>
            <a:srgbClr val="E3F2EF"/>
          </a:solidFill>
          <a:ln w="9525">
            <a:solidFill>
              <a:srgbClr val="D7DDE4"/>
            </a:solidFill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03" name="cbar"/>
          <p:cNvSpPr/>
          <p:nvPr/>
        </p:nvSpPr>
        <p:spPr>
          <a:xfrm>
            <a:off x="760000" y="4255000"/>
            <a:ext cx="70000" cy="1975000"/>
          </a:xfrm>
          <a:prstGeom prst="rect">
            <a:avLst/>
          </a:prstGeom>
          <a:solidFill>
            <a:srgbClr val="17827A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04" name="tx"/>
          <p:cNvSpPr/>
          <p:nvPr/>
        </p:nvSpPr>
        <p:spPr>
          <a:xfrm>
            <a:off x="820000" y="4255000"/>
            <a:ext cx="3304000" cy="1975000"/>
          </a:xfrm>
          <a:prstGeom prst="rect">
            <a:avLst/>
          </a:prstGeom>
          <a:noFill/>
          <a:ln>
            <a:noFill/>
          </a:ln>
        </p:spPr>
        <p:txBody>
          <a:bodyPr wrap="square" lIns="150000" tIns="120000" rIns="150000" bIns="120000" anchor="ctr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7827A"/>
                </a:solidFill>
                <a:latin typeface="Calibri"/>
                <a:ea typeface="Malgun Gothic"/>
                <a:cs typeface="Calibri"/>
              </a:rPr>
              <a:t>4 · 실행</a:t>
            </a:r>
          </a:p>
          <a:p>
            <a:pPr marL="0" indent="0" algn="l">
              <a:lnSpc>
                <a:spcPct val="112000"/>
              </a:lnSpc>
              <a:spcBef>
                <a:spcPts val="400"/>
              </a:spcBef>
              <a:buNone/>
            </a:pPr>
            <a:r>
              <a:rPr lang="ko-KR" sz="11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암호 엔진 수행, 필요 시 NVM 키 참조</a:t>
            </a:r>
          </a:p>
        </p:txBody>
      </p:sp>
      <p:sp>
        <p:nvSpPr>
          <p:cNvPr id="205" name="card"/>
          <p:cNvSpPr/>
          <p:nvPr/>
        </p:nvSpPr>
        <p:spPr>
          <a:xfrm>
            <a:off x="4384000" y="4255000"/>
            <a:ext cx="3424000" cy="1975000"/>
          </a:xfrm>
          <a:prstGeom prst="roundRect">
            <a:avLst/>
          </a:prstGeom>
          <a:solidFill>
            <a:srgbClr val="D7ECE8"/>
          </a:solidFill>
          <a:ln w="9525">
            <a:solidFill>
              <a:srgbClr val="D7DDE4"/>
            </a:solidFill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06" name="cbar"/>
          <p:cNvSpPr/>
          <p:nvPr/>
        </p:nvSpPr>
        <p:spPr>
          <a:xfrm>
            <a:off x="4384000" y="4255000"/>
            <a:ext cx="70000" cy="1975000"/>
          </a:xfrm>
          <a:prstGeom prst="rect">
            <a:avLst/>
          </a:prstGeom>
          <a:solidFill>
            <a:srgbClr val="0E756B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07" name="tx"/>
          <p:cNvSpPr/>
          <p:nvPr/>
        </p:nvSpPr>
        <p:spPr>
          <a:xfrm>
            <a:off x="4444000" y="4255000"/>
            <a:ext cx="3304000" cy="1975000"/>
          </a:xfrm>
          <a:prstGeom prst="rect">
            <a:avLst/>
          </a:prstGeom>
          <a:noFill/>
          <a:ln>
            <a:noFill/>
          </a:ln>
        </p:spPr>
        <p:txBody>
          <a:bodyPr wrap="square" lIns="150000" tIns="120000" rIns="150000" bIns="120000" anchor="ctr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0E756B"/>
                </a:solidFill>
                <a:latin typeface="Calibri"/>
                <a:ea typeface="Malgun Gothic"/>
                <a:cs typeface="Calibri"/>
              </a:rPr>
              <a:t>5 · 상태 save</a:t>
            </a:r>
          </a:p>
          <a:p>
            <a:pPr marL="0" indent="0" algn="l">
              <a:lnSpc>
                <a:spcPct val="112000"/>
              </a:lnSpc>
              <a:spcBef>
                <a:spcPts val="400"/>
              </a:spcBef>
              <a:buNone/>
            </a:pPr>
            <a:r>
              <a:rPr lang="ko-KR" sz="11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갱신 상태 저장 · Final/오류면 해제·소거</a:t>
            </a:r>
          </a:p>
        </p:txBody>
      </p:sp>
      <p:sp>
        <p:nvSpPr>
          <p:cNvPr id="208" name="card"/>
          <p:cNvSpPr/>
          <p:nvPr/>
        </p:nvSpPr>
        <p:spPr>
          <a:xfrm>
            <a:off x="8008000" y="4255000"/>
            <a:ext cx="3424000" cy="1975000"/>
          </a:xfrm>
          <a:prstGeom prst="roundRect">
            <a:avLst/>
          </a:prstGeom>
          <a:solidFill>
            <a:srgbClr val="E3F2EF"/>
          </a:solidFill>
          <a:ln w="9525">
            <a:solidFill>
              <a:srgbClr val="D7DDE4"/>
            </a:solidFill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09" name="cbar"/>
          <p:cNvSpPr/>
          <p:nvPr/>
        </p:nvSpPr>
        <p:spPr>
          <a:xfrm>
            <a:off x="8008000" y="4255000"/>
            <a:ext cx="70000" cy="1975000"/>
          </a:xfrm>
          <a:prstGeom prst="rect">
            <a:avLst/>
          </a:prstGeom>
          <a:solidFill>
            <a:srgbClr val="17827A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10" name="tx"/>
          <p:cNvSpPr/>
          <p:nvPr/>
        </p:nvSpPr>
        <p:spPr>
          <a:xfrm>
            <a:off x="8068000" y="4255000"/>
            <a:ext cx="3304000" cy="1975000"/>
          </a:xfrm>
          <a:prstGeom prst="rect">
            <a:avLst/>
          </a:prstGeom>
          <a:noFill/>
          <a:ln>
            <a:noFill/>
          </a:ln>
        </p:spPr>
        <p:txBody>
          <a:bodyPr wrap="square" lIns="150000" tIns="120000" rIns="150000" bIns="120000" anchor="ctr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7827A"/>
                </a:solidFill>
                <a:latin typeface="Calibri"/>
                <a:ea typeface="Malgun Gothic"/>
                <a:cs typeface="Calibri"/>
              </a:rPr>
              <a:t>6 · 응답</a:t>
            </a:r>
          </a:p>
          <a:p>
            <a:pPr marL="0" indent="0" algn="l">
              <a:lnSpc>
                <a:spcPct val="112000"/>
              </a:lnSpc>
              <a:spcBef>
                <a:spcPts val="400"/>
              </a:spcBef>
              <a:buNone/>
            </a:pPr>
            <a:r>
              <a:rPr lang="ko-KR" sz="11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ack(CKR_*) + 출력, sequence_id 매칭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12" name="spine"/>
          <p:cNvSpPr/>
          <p:nvPr/>
        </p:nvSpPr>
        <p:spPr>
          <a:xfrm>
            <a:off x="0" y="0"/>
            <a:ext cx="132000" cy="6858000"/>
          </a:xfrm>
          <a:prstGeom prst="rect">
            <a:avLst/>
          </a:prstGeom>
          <a:solidFill>
            <a:srgbClr val="17827A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13" name="tx"/>
          <p:cNvSpPr/>
          <p:nvPr/>
        </p:nvSpPr>
        <p:spPr>
          <a:xfrm>
            <a:off x="760000" y="360000"/>
            <a:ext cx="10672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150" b="1" dirty="0">
                <a:solidFill>
                  <a:srgbClr val="17827A"/>
                </a:solidFill>
                <a:latin typeface="Calibri"/>
                <a:ea typeface="Malgun Gothic"/>
                <a:cs typeface="Calibri"/>
              </a:rPr>
              <a:t>원칙</a:t>
            </a:r>
          </a:p>
        </p:txBody>
      </p:sp>
      <p:sp>
        <p:nvSpPr>
          <p:cNvPr id="214" name="fl"/>
          <p:cNvSpPr/>
          <p:nvPr/>
        </p:nvSpPr>
        <p:spPr>
          <a:xfrm>
            <a:off x="760000" y="6388000"/>
            <a:ext cx="10672000" cy="10000"/>
          </a:xfrm>
          <a:prstGeom prst="rect">
            <a:avLst/>
          </a:prstGeom>
          <a:solidFill>
            <a:srgbClr val="D7DDE4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15" name="tx"/>
          <p:cNvSpPr/>
          <p:nvPr/>
        </p:nvSpPr>
        <p:spPr>
          <a:xfrm>
            <a:off x="760000" y="6438000"/>
            <a:ext cx="9972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0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Token NCMP · 세션 상태 관리</a:t>
            </a:r>
          </a:p>
        </p:txBody>
      </p:sp>
      <p:sp>
        <p:nvSpPr>
          <p:cNvPr id="216" name="tx"/>
          <p:cNvSpPr/>
          <p:nvPr/>
        </p:nvSpPr>
        <p:spPr>
          <a:xfrm>
            <a:off x="10732000" y="6438000"/>
            <a:ext cx="7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0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05</a:t>
            </a:r>
          </a:p>
        </p:txBody>
      </p:sp>
      <p:sp>
        <p:nvSpPr>
          <p:cNvPr id="217" name="tx"/>
          <p:cNvSpPr/>
          <p:nvPr/>
        </p:nvSpPr>
        <p:spPr>
          <a:xfrm>
            <a:off x="760000" y="640000"/>
            <a:ext cx="10672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300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저장 위치 판단 — 3원칙</a:t>
            </a:r>
          </a:p>
        </p:txBody>
      </p:sp>
      <p:sp>
        <p:nvSpPr>
          <p:cNvPr id="218" name="ul"/>
          <p:cNvSpPr/>
          <p:nvPr/>
        </p:nvSpPr>
        <p:spPr>
          <a:xfrm>
            <a:off x="770000" y="1760000"/>
            <a:ext cx="720000" cy="60000"/>
          </a:xfrm>
          <a:prstGeom prst="rect">
            <a:avLst/>
          </a:prstGeom>
          <a:solidFill>
            <a:srgbClr val="17827A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19" name="card"/>
          <p:cNvSpPr/>
          <p:nvPr/>
        </p:nvSpPr>
        <p:spPr>
          <a:xfrm>
            <a:off x="760000" y="2080000"/>
            <a:ext cx="3424000" cy="4150000"/>
          </a:xfrm>
          <a:prstGeom prst="roundRect">
            <a:avLst/>
          </a:prstGeom>
          <a:solidFill>
            <a:srgbClr val="E3F2EF"/>
          </a:solidFill>
          <a:ln w="9525">
            <a:solidFill>
              <a:srgbClr val="D7DDE4"/>
            </a:solidFill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20" name="cbar"/>
          <p:cNvSpPr/>
          <p:nvPr/>
        </p:nvSpPr>
        <p:spPr>
          <a:xfrm>
            <a:off x="760000" y="2080000"/>
            <a:ext cx="70000" cy="4150000"/>
          </a:xfrm>
          <a:prstGeom prst="rect">
            <a:avLst/>
          </a:prstGeom>
          <a:solidFill>
            <a:srgbClr val="0E756B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21" name="tx"/>
          <p:cNvSpPr/>
          <p:nvPr/>
        </p:nvSpPr>
        <p:spPr>
          <a:xfrm>
            <a:off x="820000" y="2080000"/>
            <a:ext cx="3304000" cy="4150000"/>
          </a:xfrm>
          <a:prstGeom prst="rect">
            <a:avLst/>
          </a:prstGeom>
          <a:noFill/>
          <a:ln>
            <a:noFill/>
          </a:ln>
        </p:spPr>
        <p:txBody>
          <a:bodyPr wrap="square" lIns="150000" tIns="120000" rIns="150000" bIns="120000" anchor="ctr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0E756B"/>
                </a:solidFill>
                <a:latin typeface="Calibri"/>
                <a:ea typeface="Malgun Gothic"/>
                <a:cs typeface="Calibri"/>
              </a:rPr>
              <a:t>① 컨텍스트는 휘발성</a:t>
            </a:r>
          </a:p>
          <a:p>
            <a:pPr marL="0" indent="0" algn="l">
              <a:lnSpc>
                <a:spcPct val="112000"/>
              </a:lnSpc>
              <a:spcBef>
                <a:spcPts val="400"/>
              </a:spcBef>
              <a:buNone/>
            </a:pPr>
            <a:r>
              <a:rPr lang="ko-KR" sz="11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세션 연산 중간 상태는 연결 수명에 종속. 끊기면 진행 중 연산 폐기(PKCS#11)</a:t>
            </a:r>
          </a:p>
        </p:txBody>
      </p:sp>
      <p:sp>
        <p:nvSpPr>
          <p:cNvPr id="222" name="card"/>
          <p:cNvSpPr/>
          <p:nvPr/>
        </p:nvSpPr>
        <p:spPr>
          <a:xfrm>
            <a:off x="4384000" y="2080000"/>
            <a:ext cx="3424000" cy="4150000"/>
          </a:xfrm>
          <a:prstGeom prst="roundRect">
            <a:avLst/>
          </a:prstGeom>
          <a:solidFill>
            <a:srgbClr val="F7EFE1"/>
          </a:solidFill>
          <a:ln w="9525">
            <a:solidFill>
              <a:srgbClr val="D7DDE4"/>
            </a:solidFill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23" name="cbar"/>
          <p:cNvSpPr/>
          <p:nvPr/>
        </p:nvSpPr>
        <p:spPr>
          <a:xfrm>
            <a:off x="4384000" y="2080000"/>
            <a:ext cx="70000" cy="4150000"/>
          </a:xfrm>
          <a:prstGeom prst="rect">
            <a:avLst/>
          </a:prstGeom>
          <a:solidFill>
            <a:srgbClr val="9A6A1E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24" name="tx"/>
          <p:cNvSpPr/>
          <p:nvPr/>
        </p:nvSpPr>
        <p:spPr>
          <a:xfrm>
            <a:off x="4444000" y="2080000"/>
            <a:ext cx="3304000" cy="4150000"/>
          </a:xfrm>
          <a:prstGeom prst="rect">
            <a:avLst/>
          </a:prstGeom>
          <a:noFill/>
          <a:ln>
            <a:noFill/>
          </a:ln>
        </p:spPr>
        <p:txBody>
          <a:bodyPr wrap="square" lIns="150000" tIns="120000" rIns="150000" bIns="120000" anchor="ctr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9A6A1E"/>
                </a:solidFill>
                <a:latin typeface="Calibri"/>
                <a:ea typeface="Malgun Gothic"/>
                <a:cs typeface="Calibri"/>
              </a:rPr>
              <a:t>② 영속 자산은 NVM</a:t>
            </a:r>
          </a:p>
          <a:p>
            <a:pPr marL="0" indent="0" algn="l">
              <a:lnSpc>
                <a:spcPct val="112000"/>
              </a:lnSpc>
              <a:spcBef>
                <a:spcPts val="400"/>
              </a:spcBef>
              <a:buNone/>
            </a:pPr>
            <a:r>
              <a:rPr lang="ko-KR" sz="11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키·PIN·정체성은 전원과 무관하게 유지·강제되어야 함</a:t>
            </a:r>
          </a:p>
        </p:txBody>
      </p:sp>
      <p:sp>
        <p:nvSpPr>
          <p:cNvPr id="225" name="card"/>
          <p:cNvSpPr/>
          <p:nvPr/>
        </p:nvSpPr>
        <p:spPr>
          <a:xfrm>
            <a:off x="8008000" y="2080000"/>
            <a:ext cx="3424000" cy="4150000"/>
          </a:xfrm>
          <a:prstGeom prst="roundRect">
            <a:avLst/>
          </a:prstGeom>
          <a:solidFill>
            <a:srgbClr val="E3F2EF"/>
          </a:solidFill>
          <a:ln w="9525">
            <a:solidFill>
              <a:srgbClr val="D7DDE4"/>
            </a:solidFill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26" name="cbar"/>
          <p:cNvSpPr/>
          <p:nvPr/>
        </p:nvSpPr>
        <p:spPr>
          <a:xfrm>
            <a:off x="8008000" y="2080000"/>
            <a:ext cx="70000" cy="4150000"/>
          </a:xfrm>
          <a:prstGeom prst="rect">
            <a:avLst/>
          </a:prstGeom>
          <a:solidFill>
            <a:srgbClr val="17827A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27" name="tx"/>
          <p:cNvSpPr/>
          <p:nvPr/>
        </p:nvSpPr>
        <p:spPr>
          <a:xfrm>
            <a:off x="8068000" y="2080000"/>
            <a:ext cx="3304000" cy="4150000"/>
          </a:xfrm>
          <a:prstGeom prst="rect">
            <a:avLst/>
          </a:prstGeom>
          <a:noFill/>
          <a:ln>
            <a:noFill/>
          </a:ln>
        </p:spPr>
        <p:txBody>
          <a:bodyPr wrap="square" lIns="150000" tIns="120000" rIns="150000" bIns="120000" anchor="ctr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7827A"/>
                </a:solidFill>
                <a:latin typeface="Calibri"/>
                <a:ea typeface="Malgun Gothic"/>
                <a:cs typeface="Calibri"/>
              </a:rPr>
              <a:t>③ 민감 휘발성은 소거</a:t>
            </a:r>
          </a:p>
          <a:p>
            <a:pPr marL="0" indent="0" algn="l">
              <a:lnSpc>
                <a:spcPct val="112000"/>
              </a:lnSpc>
              <a:spcBef>
                <a:spcPts val="400"/>
              </a:spcBef>
              <a:buNone/>
            </a:pPr>
            <a:r>
              <a:rPr lang="ko-KR" sz="11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세션 키·중간 다이제스트·복호 평문은 해제 즉시 zeroize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62B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29" name="spine"/>
          <p:cNvSpPr/>
          <p:nvPr/>
        </p:nvSpPr>
        <p:spPr>
          <a:xfrm>
            <a:off x="0" y="0"/>
            <a:ext cx="210000" cy="6858000"/>
          </a:xfrm>
          <a:prstGeom prst="rect">
            <a:avLst/>
          </a:prstGeom>
          <a:solidFill>
            <a:srgbClr val="17827A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30" name="tx"/>
          <p:cNvSpPr/>
          <p:nvPr/>
        </p:nvSpPr>
        <p:spPr>
          <a:xfrm>
            <a:off x="900000" y="2650000"/>
            <a:ext cx="10672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300" b="1" dirty="0">
                <a:solidFill>
                  <a:srgbClr val="17827A"/>
                </a:solidFill>
                <a:latin typeface="Calibri"/>
                <a:ea typeface="Malgun Gothic"/>
                <a:cs typeface="Calibri"/>
              </a:rPr>
              <a:t>NON-VOLATILE</a:t>
            </a:r>
          </a:p>
        </p:txBody>
      </p:sp>
      <p:sp>
        <p:nvSpPr>
          <p:cNvPr id="231" name="tx"/>
          <p:cNvSpPr/>
          <p:nvPr/>
        </p:nvSpPr>
        <p:spPr>
          <a:xfrm>
            <a:off x="880000" y="3050000"/>
            <a:ext cx="10672000" cy="1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ko-KR" sz="4000" b="1" dirty="0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비휘발성(NVM) 저장 항목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33" name="spine"/>
          <p:cNvSpPr/>
          <p:nvPr/>
        </p:nvSpPr>
        <p:spPr>
          <a:xfrm>
            <a:off x="0" y="0"/>
            <a:ext cx="132000" cy="6858000"/>
          </a:xfrm>
          <a:prstGeom prst="rect">
            <a:avLst/>
          </a:prstGeom>
          <a:solidFill>
            <a:srgbClr val="17827A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34" name="tx"/>
          <p:cNvSpPr/>
          <p:nvPr/>
        </p:nvSpPr>
        <p:spPr>
          <a:xfrm>
            <a:off x="760000" y="360000"/>
            <a:ext cx="10672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150" b="1" dirty="0">
                <a:solidFill>
                  <a:srgbClr val="17827A"/>
                </a:solidFill>
                <a:latin typeface="Calibri"/>
                <a:ea typeface="Malgun Gothic"/>
                <a:cs typeface="Calibri"/>
              </a:rPr>
              <a:t>NVM</a:t>
            </a:r>
          </a:p>
        </p:txBody>
      </p:sp>
      <p:sp>
        <p:nvSpPr>
          <p:cNvPr id="235" name="fl"/>
          <p:cNvSpPr/>
          <p:nvPr/>
        </p:nvSpPr>
        <p:spPr>
          <a:xfrm>
            <a:off x="760000" y="6388000"/>
            <a:ext cx="10672000" cy="10000"/>
          </a:xfrm>
          <a:prstGeom prst="rect">
            <a:avLst/>
          </a:prstGeom>
          <a:solidFill>
            <a:srgbClr val="D7DDE4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36" name="tx"/>
          <p:cNvSpPr/>
          <p:nvPr/>
        </p:nvSpPr>
        <p:spPr>
          <a:xfrm>
            <a:off x="760000" y="6438000"/>
            <a:ext cx="9972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0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Token NCMP · 세션 상태 관리</a:t>
            </a:r>
          </a:p>
        </p:txBody>
      </p:sp>
      <p:sp>
        <p:nvSpPr>
          <p:cNvPr id="237" name="tx"/>
          <p:cNvSpPr/>
          <p:nvPr/>
        </p:nvSpPr>
        <p:spPr>
          <a:xfrm>
            <a:off x="10732000" y="6438000"/>
            <a:ext cx="7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0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06</a:t>
            </a:r>
          </a:p>
        </p:txBody>
      </p:sp>
      <p:sp>
        <p:nvSpPr>
          <p:cNvPr id="238" name="tx"/>
          <p:cNvSpPr/>
          <p:nvPr/>
        </p:nvSpPr>
        <p:spPr>
          <a:xfrm>
            <a:off x="760000" y="640000"/>
            <a:ext cx="10672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300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NVM 항목 — N1~N4</a:t>
            </a:r>
          </a:p>
        </p:txBody>
      </p:sp>
      <p:sp>
        <p:nvSpPr>
          <p:cNvPr id="239" name="ul"/>
          <p:cNvSpPr/>
          <p:nvPr/>
        </p:nvSpPr>
        <p:spPr>
          <a:xfrm>
            <a:off x="770000" y="1760000"/>
            <a:ext cx="720000" cy="60000"/>
          </a:xfrm>
          <a:prstGeom prst="rect">
            <a:avLst/>
          </a:prstGeom>
          <a:solidFill>
            <a:srgbClr val="17827A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40" name="card"/>
          <p:cNvSpPr/>
          <p:nvPr/>
        </p:nvSpPr>
        <p:spPr>
          <a:xfrm>
            <a:off x="760000" y="2080000"/>
            <a:ext cx="5236000" cy="1975000"/>
          </a:xfrm>
          <a:prstGeom prst="roundRect">
            <a:avLst/>
          </a:prstGeom>
          <a:solidFill>
            <a:srgbClr val="F7EFE1"/>
          </a:solidFill>
          <a:ln w="9525">
            <a:solidFill>
              <a:srgbClr val="D7DDE4"/>
            </a:solidFill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41" name="cbar"/>
          <p:cNvSpPr/>
          <p:nvPr/>
        </p:nvSpPr>
        <p:spPr>
          <a:xfrm>
            <a:off x="760000" y="2080000"/>
            <a:ext cx="70000" cy="1975000"/>
          </a:xfrm>
          <a:prstGeom prst="rect">
            <a:avLst/>
          </a:prstGeom>
          <a:solidFill>
            <a:srgbClr val="9A6A1E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42" name="tx"/>
          <p:cNvSpPr/>
          <p:nvPr/>
        </p:nvSpPr>
        <p:spPr>
          <a:xfrm>
            <a:off x="820000" y="2080000"/>
            <a:ext cx="5116000" cy="1975000"/>
          </a:xfrm>
          <a:prstGeom prst="rect">
            <a:avLst/>
          </a:prstGeom>
          <a:noFill/>
          <a:ln>
            <a:noFill/>
          </a:ln>
        </p:spPr>
        <p:txBody>
          <a:bodyPr wrap="square" lIns="150000" tIns="120000" rIns="150000" bIns="120000" anchor="ctr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9A6A1E"/>
                </a:solidFill>
                <a:latin typeface="Calibri"/>
                <a:ea typeface="Malgun Gothic"/>
                <a:cs typeface="Calibri"/>
              </a:rPr>
              <a:t>N1 · 토큰 정체성</a:t>
            </a:r>
          </a:p>
          <a:p>
            <a:pPr marL="0" indent="0" algn="l">
              <a:lnSpc>
                <a:spcPct val="112000"/>
              </a:lnSpc>
              <a:spcBef>
                <a:spcPts val="400"/>
              </a:spcBef>
              <a:buNone/>
            </a:pPr>
            <a:r>
              <a:rPr lang="ko-KR" sz="11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label·serial·manufacturer·model·HW/FW 버전. 슬롯↔토큰 바인딩 근거</a:t>
            </a:r>
          </a:p>
        </p:txBody>
      </p:sp>
      <p:sp>
        <p:nvSpPr>
          <p:cNvPr id="243" name="card"/>
          <p:cNvSpPr/>
          <p:nvPr/>
        </p:nvSpPr>
        <p:spPr>
          <a:xfrm>
            <a:off x="6196000" y="2080000"/>
            <a:ext cx="5236000" cy="1975000"/>
          </a:xfrm>
          <a:prstGeom prst="roundRect">
            <a:avLst/>
          </a:prstGeom>
          <a:solidFill>
            <a:srgbClr val="F7EFE1"/>
          </a:solidFill>
          <a:ln w="9525">
            <a:solidFill>
              <a:srgbClr val="D7DDE4"/>
            </a:solidFill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44" name="cbar"/>
          <p:cNvSpPr/>
          <p:nvPr/>
        </p:nvSpPr>
        <p:spPr>
          <a:xfrm>
            <a:off x="6196000" y="2080000"/>
            <a:ext cx="70000" cy="1975000"/>
          </a:xfrm>
          <a:prstGeom prst="rect">
            <a:avLst/>
          </a:prstGeom>
          <a:solidFill>
            <a:srgbClr val="9A6A1E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45" name="tx"/>
          <p:cNvSpPr/>
          <p:nvPr/>
        </p:nvSpPr>
        <p:spPr>
          <a:xfrm>
            <a:off x="6256000" y="2080000"/>
            <a:ext cx="5116000" cy="1975000"/>
          </a:xfrm>
          <a:prstGeom prst="rect">
            <a:avLst/>
          </a:prstGeom>
          <a:noFill/>
          <a:ln>
            <a:noFill/>
          </a:ln>
        </p:spPr>
        <p:txBody>
          <a:bodyPr wrap="square" lIns="150000" tIns="120000" rIns="150000" bIns="120000" anchor="ctr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9A6A1E"/>
                </a:solidFill>
                <a:latin typeface="Calibri"/>
                <a:ea typeface="Malgun Gothic"/>
                <a:cs typeface="Calibri"/>
              </a:rPr>
              <a:t>N2 · 초기화/PIN 플래그</a:t>
            </a:r>
          </a:p>
          <a:p>
            <a:pPr marL="0" indent="0" algn="l">
              <a:lnSpc>
                <a:spcPct val="112000"/>
              </a:lnSpc>
              <a:spcBef>
                <a:spcPts val="400"/>
              </a:spcBef>
              <a:buNone/>
            </a:pPr>
            <a:r>
              <a:rPr lang="ko-KR" sz="11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INITIALIZED·PIN LOCKED 등. 리셋으로 잠금 우회 방지</a:t>
            </a:r>
          </a:p>
        </p:txBody>
      </p:sp>
      <p:sp>
        <p:nvSpPr>
          <p:cNvPr id="246" name="card"/>
          <p:cNvSpPr/>
          <p:nvPr/>
        </p:nvSpPr>
        <p:spPr>
          <a:xfrm>
            <a:off x="760000" y="4255000"/>
            <a:ext cx="5236000" cy="1975000"/>
          </a:xfrm>
          <a:prstGeom prst="roundRect">
            <a:avLst/>
          </a:prstGeom>
          <a:solidFill>
            <a:srgbClr val="F7EFE1"/>
          </a:solidFill>
          <a:ln w="9525">
            <a:solidFill>
              <a:srgbClr val="D7DDE4"/>
            </a:solidFill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47" name="cbar"/>
          <p:cNvSpPr/>
          <p:nvPr/>
        </p:nvSpPr>
        <p:spPr>
          <a:xfrm>
            <a:off x="760000" y="4255000"/>
            <a:ext cx="70000" cy="1975000"/>
          </a:xfrm>
          <a:prstGeom prst="rect">
            <a:avLst/>
          </a:prstGeom>
          <a:solidFill>
            <a:srgbClr val="9A6A1E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48" name="tx"/>
          <p:cNvSpPr/>
          <p:nvPr/>
        </p:nvSpPr>
        <p:spPr>
          <a:xfrm>
            <a:off x="820000" y="4255000"/>
            <a:ext cx="5116000" cy="1975000"/>
          </a:xfrm>
          <a:prstGeom prst="rect">
            <a:avLst/>
          </a:prstGeom>
          <a:noFill/>
          <a:ln>
            <a:noFill/>
          </a:ln>
        </p:spPr>
        <p:txBody>
          <a:bodyPr wrap="square" lIns="150000" tIns="120000" rIns="150000" bIns="120000" anchor="ctr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9A6A1E"/>
                </a:solidFill>
                <a:latin typeface="Calibri"/>
                <a:ea typeface="Malgun Gothic"/>
                <a:cs typeface="Calibri"/>
              </a:rPr>
              <a:t>N3 · SO PIN</a:t>
            </a:r>
          </a:p>
          <a:p>
            <a:pPr marL="0" indent="0" algn="l">
              <a:lnSpc>
                <a:spcPct val="112000"/>
              </a:lnSpc>
              <a:spcBef>
                <a:spcPts val="400"/>
              </a:spcBef>
              <a:buNone/>
            </a:pPr>
            <a:r>
              <a:rPr lang="ko-KR" sz="11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검증자(솔트+해시) + 재시도 카운터. 원문 저장 금지</a:t>
            </a:r>
          </a:p>
        </p:txBody>
      </p:sp>
      <p:sp>
        <p:nvSpPr>
          <p:cNvPr id="249" name="card"/>
          <p:cNvSpPr/>
          <p:nvPr/>
        </p:nvSpPr>
        <p:spPr>
          <a:xfrm>
            <a:off x="6196000" y="4255000"/>
            <a:ext cx="5236000" cy="1975000"/>
          </a:xfrm>
          <a:prstGeom prst="roundRect">
            <a:avLst/>
          </a:prstGeom>
          <a:solidFill>
            <a:srgbClr val="F7EFE1"/>
          </a:solidFill>
          <a:ln w="9525">
            <a:solidFill>
              <a:srgbClr val="D7DDE4"/>
            </a:solidFill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50" name="cbar"/>
          <p:cNvSpPr/>
          <p:nvPr/>
        </p:nvSpPr>
        <p:spPr>
          <a:xfrm>
            <a:off x="6196000" y="4255000"/>
            <a:ext cx="70000" cy="1975000"/>
          </a:xfrm>
          <a:prstGeom prst="rect">
            <a:avLst/>
          </a:prstGeom>
          <a:solidFill>
            <a:srgbClr val="9A6A1E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51" name="tx"/>
          <p:cNvSpPr/>
          <p:nvPr/>
        </p:nvSpPr>
        <p:spPr>
          <a:xfrm>
            <a:off x="6256000" y="4255000"/>
            <a:ext cx="5116000" cy="1975000"/>
          </a:xfrm>
          <a:prstGeom prst="rect">
            <a:avLst/>
          </a:prstGeom>
          <a:noFill/>
          <a:ln>
            <a:noFill/>
          </a:ln>
        </p:spPr>
        <p:txBody>
          <a:bodyPr wrap="square" lIns="150000" tIns="120000" rIns="150000" bIns="120000" anchor="ctr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9A6A1E"/>
                </a:solidFill>
                <a:latin typeface="Calibri"/>
                <a:ea typeface="Malgun Gothic"/>
                <a:cs typeface="Calibri"/>
              </a:rPr>
              <a:t>N4 · User PIN</a:t>
            </a:r>
          </a:p>
          <a:p>
            <a:pPr marL="0" indent="0" algn="l">
              <a:lnSpc>
                <a:spcPct val="112000"/>
              </a:lnSpc>
              <a:spcBef>
                <a:spcPts val="400"/>
              </a:spcBef>
              <a:buNone/>
            </a:pPr>
            <a:r>
              <a:rPr lang="ko-KR" sz="11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사용자 PIN 검증자 + 재시도/잠금. 전원과 무관하게 강제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53" name="spine"/>
          <p:cNvSpPr/>
          <p:nvPr/>
        </p:nvSpPr>
        <p:spPr>
          <a:xfrm>
            <a:off x="0" y="0"/>
            <a:ext cx="132000" cy="6858000"/>
          </a:xfrm>
          <a:prstGeom prst="rect">
            <a:avLst/>
          </a:prstGeom>
          <a:solidFill>
            <a:srgbClr val="17827A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54" name="tx"/>
          <p:cNvSpPr/>
          <p:nvPr/>
        </p:nvSpPr>
        <p:spPr>
          <a:xfrm>
            <a:off x="760000" y="360000"/>
            <a:ext cx="10672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150" b="1" dirty="0">
                <a:solidFill>
                  <a:srgbClr val="17827A"/>
                </a:solidFill>
                <a:latin typeface="Calibri"/>
                <a:ea typeface="Malgun Gothic"/>
                <a:cs typeface="Calibri"/>
              </a:rPr>
              <a:t>NVM</a:t>
            </a:r>
          </a:p>
        </p:txBody>
      </p:sp>
      <p:sp>
        <p:nvSpPr>
          <p:cNvPr id="255" name="fl"/>
          <p:cNvSpPr/>
          <p:nvPr/>
        </p:nvSpPr>
        <p:spPr>
          <a:xfrm>
            <a:off x="760000" y="6388000"/>
            <a:ext cx="10672000" cy="10000"/>
          </a:xfrm>
          <a:prstGeom prst="rect">
            <a:avLst/>
          </a:prstGeom>
          <a:solidFill>
            <a:srgbClr val="D7DDE4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56" name="tx"/>
          <p:cNvSpPr/>
          <p:nvPr/>
        </p:nvSpPr>
        <p:spPr>
          <a:xfrm>
            <a:off x="760000" y="6438000"/>
            <a:ext cx="9972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0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Token NCMP · 세션 상태 관리</a:t>
            </a:r>
          </a:p>
        </p:txBody>
      </p:sp>
      <p:sp>
        <p:nvSpPr>
          <p:cNvPr id="257" name="tx"/>
          <p:cNvSpPr/>
          <p:nvPr/>
        </p:nvSpPr>
        <p:spPr>
          <a:xfrm>
            <a:off x="10732000" y="6438000"/>
            <a:ext cx="7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0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07</a:t>
            </a:r>
          </a:p>
        </p:txBody>
      </p:sp>
      <p:sp>
        <p:nvSpPr>
          <p:cNvPr id="258" name="tx"/>
          <p:cNvSpPr/>
          <p:nvPr/>
        </p:nvSpPr>
        <p:spPr>
          <a:xfrm>
            <a:off x="760000" y="640000"/>
            <a:ext cx="10672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300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NVM 항목 — N5~N8</a:t>
            </a:r>
          </a:p>
        </p:txBody>
      </p:sp>
      <p:sp>
        <p:nvSpPr>
          <p:cNvPr id="259" name="ul"/>
          <p:cNvSpPr/>
          <p:nvPr/>
        </p:nvSpPr>
        <p:spPr>
          <a:xfrm>
            <a:off x="770000" y="1760000"/>
            <a:ext cx="720000" cy="60000"/>
          </a:xfrm>
          <a:prstGeom prst="rect">
            <a:avLst/>
          </a:prstGeom>
          <a:solidFill>
            <a:srgbClr val="17827A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60" name="card"/>
          <p:cNvSpPr/>
          <p:nvPr/>
        </p:nvSpPr>
        <p:spPr>
          <a:xfrm>
            <a:off x="760000" y="2080000"/>
            <a:ext cx="5236000" cy="1975000"/>
          </a:xfrm>
          <a:prstGeom prst="roundRect">
            <a:avLst/>
          </a:prstGeom>
          <a:solidFill>
            <a:srgbClr val="F7EFE1"/>
          </a:solidFill>
          <a:ln w="9525">
            <a:solidFill>
              <a:srgbClr val="D7DDE4"/>
            </a:solidFill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61" name="cbar"/>
          <p:cNvSpPr/>
          <p:nvPr/>
        </p:nvSpPr>
        <p:spPr>
          <a:xfrm>
            <a:off x="760000" y="2080000"/>
            <a:ext cx="70000" cy="1975000"/>
          </a:xfrm>
          <a:prstGeom prst="rect">
            <a:avLst/>
          </a:prstGeom>
          <a:solidFill>
            <a:srgbClr val="9A6A1E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62" name="tx"/>
          <p:cNvSpPr/>
          <p:nvPr/>
        </p:nvSpPr>
        <p:spPr>
          <a:xfrm>
            <a:off x="820000" y="2080000"/>
            <a:ext cx="5116000" cy="1975000"/>
          </a:xfrm>
          <a:prstGeom prst="rect">
            <a:avLst/>
          </a:prstGeom>
          <a:noFill/>
          <a:ln>
            <a:noFill/>
          </a:ln>
        </p:spPr>
        <p:txBody>
          <a:bodyPr wrap="square" lIns="150000" tIns="120000" rIns="150000" bIns="120000" anchor="ctr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9A6A1E"/>
                </a:solidFill>
                <a:latin typeface="Calibri"/>
                <a:ea typeface="Malgun Gothic"/>
                <a:cs typeface="Calibri"/>
              </a:rPr>
              <a:t>N5 · 토큰 객체</a:t>
            </a:r>
          </a:p>
          <a:p>
            <a:pPr marL="0" indent="0" algn="l">
              <a:lnSpc>
                <a:spcPct val="112000"/>
              </a:lnSpc>
              <a:spcBef>
                <a:spcPts val="400"/>
              </a:spcBef>
              <a:buNone/>
            </a:pPr>
            <a:r>
              <a:rPr lang="ko-KR" sz="11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CKA_TOKEN=TRUE 키·데이터. 개인 키재료는 마스터키로 암호화</a:t>
            </a:r>
          </a:p>
        </p:txBody>
      </p:sp>
      <p:sp>
        <p:nvSpPr>
          <p:cNvPr id="263" name="card"/>
          <p:cNvSpPr/>
          <p:nvPr/>
        </p:nvSpPr>
        <p:spPr>
          <a:xfrm>
            <a:off x="6196000" y="2080000"/>
            <a:ext cx="5236000" cy="1975000"/>
          </a:xfrm>
          <a:prstGeom prst="roundRect">
            <a:avLst/>
          </a:prstGeom>
          <a:solidFill>
            <a:srgbClr val="F7EFE1"/>
          </a:solidFill>
          <a:ln w="9525">
            <a:solidFill>
              <a:srgbClr val="D7DDE4"/>
            </a:solidFill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64" name="cbar"/>
          <p:cNvSpPr/>
          <p:nvPr/>
        </p:nvSpPr>
        <p:spPr>
          <a:xfrm>
            <a:off x="6196000" y="2080000"/>
            <a:ext cx="70000" cy="1975000"/>
          </a:xfrm>
          <a:prstGeom prst="rect">
            <a:avLst/>
          </a:prstGeom>
          <a:solidFill>
            <a:srgbClr val="9A6A1E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65" name="tx"/>
          <p:cNvSpPr/>
          <p:nvPr/>
        </p:nvSpPr>
        <p:spPr>
          <a:xfrm>
            <a:off x="6256000" y="2080000"/>
            <a:ext cx="5116000" cy="1975000"/>
          </a:xfrm>
          <a:prstGeom prst="rect">
            <a:avLst/>
          </a:prstGeom>
          <a:noFill/>
          <a:ln>
            <a:noFill/>
          </a:ln>
        </p:spPr>
        <p:txBody>
          <a:bodyPr wrap="square" lIns="150000" tIns="120000" rIns="150000" bIns="120000" anchor="ctr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9A6A1E"/>
                </a:solidFill>
                <a:latin typeface="Calibri"/>
                <a:ea typeface="Malgun Gothic"/>
                <a:cs typeface="Calibri"/>
              </a:rPr>
              <a:t>N6 · 객체 인덱스</a:t>
            </a:r>
          </a:p>
          <a:p>
            <a:pPr marL="0" indent="0" algn="l">
              <a:lnSpc>
                <a:spcPct val="112000"/>
              </a:lnSpc>
              <a:spcBef>
                <a:spcPts val="400"/>
              </a:spcBef>
              <a:buNone/>
            </a:pPr>
            <a:r>
              <a:rPr lang="ko-KR" sz="11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객체 ID↔저장위치 매핑, 슬롯 할당표</a:t>
            </a:r>
          </a:p>
        </p:txBody>
      </p:sp>
      <p:sp>
        <p:nvSpPr>
          <p:cNvPr id="266" name="card"/>
          <p:cNvSpPr/>
          <p:nvPr/>
        </p:nvSpPr>
        <p:spPr>
          <a:xfrm>
            <a:off x="760000" y="4255000"/>
            <a:ext cx="5236000" cy="1975000"/>
          </a:xfrm>
          <a:prstGeom prst="roundRect">
            <a:avLst/>
          </a:prstGeom>
          <a:solidFill>
            <a:srgbClr val="F7EFE1"/>
          </a:solidFill>
          <a:ln w="9525">
            <a:solidFill>
              <a:srgbClr val="D7DDE4"/>
            </a:solidFill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67" name="cbar"/>
          <p:cNvSpPr/>
          <p:nvPr/>
        </p:nvSpPr>
        <p:spPr>
          <a:xfrm>
            <a:off x="760000" y="4255000"/>
            <a:ext cx="70000" cy="1975000"/>
          </a:xfrm>
          <a:prstGeom prst="rect">
            <a:avLst/>
          </a:prstGeom>
          <a:solidFill>
            <a:srgbClr val="9A6A1E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68" name="tx"/>
          <p:cNvSpPr/>
          <p:nvPr/>
        </p:nvSpPr>
        <p:spPr>
          <a:xfrm>
            <a:off x="820000" y="4255000"/>
            <a:ext cx="5116000" cy="1975000"/>
          </a:xfrm>
          <a:prstGeom prst="rect">
            <a:avLst/>
          </a:prstGeom>
          <a:noFill/>
          <a:ln>
            <a:noFill/>
          </a:ln>
        </p:spPr>
        <p:txBody>
          <a:bodyPr wrap="square" lIns="150000" tIns="120000" rIns="150000" bIns="120000" anchor="ctr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9A6A1E"/>
                </a:solidFill>
                <a:latin typeface="Calibri"/>
                <a:ea typeface="Malgun Gothic"/>
                <a:cs typeface="Calibri"/>
              </a:rPr>
              <a:t>N7 · 마스터키(KEK)</a:t>
            </a:r>
          </a:p>
          <a:p>
            <a:pPr marL="0" indent="0" algn="l">
              <a:lnSpc>
                <a:spcPct val="112000"/>
              </a:lnSpc>
              <a:spcBef>
                <a:spcPts val="400"/>
              </a:spcBef>
              <a:buNone/>
            </a:pPr>
            <a:r>
              <a:rPr lang="ko-KR" sz="11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키재료 암호화 최상위 키. PUF/보안요소에 봉인</a:t>
            </a:r>
          </a:p>
        </p:txBody>
      </p:sp>
      <p:sp>
        <p:nvSpPr>
          <p:cNvPr id="269" name="card"/>
          <p:cNvSpPr/>
          <p:nvPr/>
        </p:nvSpPr>
        <p:spPr>
          <a:xfrm>
            <a:off x="6196000" y="4255000"/>
            <a:ext cx="5236000" cy="1975000"/>
          </a:xfrm>
          <a:prstGeom prst="roundRect">
            <a:avLst/>
          </a:prstGeom>
          <a:solidFill>
            <a:srgbClr val="F7EFE1"/>
          </a:solidFill>
          <a:ln w="9525">
            <a:solidFill>
              <a:srgbClr val="D7DDE4"/>
            </a:solidFill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70" name="cbar"/>
          <p:cNvSpPr/>
          <p:nvPr/>
        </p:nvSpPr>
        <p:spPr>
          <a:xfrm>
            <a:off x="6196000" y="4255000"/>
            <a:ext cx="70000" cy="1975000"/>
          </a:xfrm>
          <a:prstGeom prst="rect">
            <a:avLst/>
          </a:prstGeom>
          <a:solidFill>
            <a:srgbClr val="9A6A1E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71" name="tx"/>
          <p:cNvSpPr/>
          <p:nvPr/>
        </p:nvSpPr>
        <p:spPr>
          <a:xfrm>
            <a:off x="6256000" y="4255000"/>
            <a:ext cx="5116000" cy="1975000"/>
          </a:xfrm>
          <a:prstGeom prst="rect">
            <a:avLst/>
          </a:prstGeom>
          <a:noFill/>
          <a:ln>
            <a:noFill/>
          </a:ln>
        </p:spPr>
        <p:txBody>
          <a:bodyPr wrap="square" lIns="150000" tIns="120000" rIns="150000" bIns="120000" anchor="ctr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9A6A1E"/>
                </a:solidFill>
                <a:latin typeface="Calibri"/>
                <a:ea typeface="Malgun Gothic"/>
                <a:cs typeface="Calibri"/>
              </a:rPr>
              <a:t>N8 · 단조 카운터/감사</a:t>
            </a:r>
          </a:p>
          <a:p>
            <a:pPr marL="0" indent="0" algn="l">
              <a:lnSpc>
                <a:spcPct val="112000"/>
              </a:lnSpc>
              <a:spcBef>
                <a:spcPts val="400"/>
              </a:spcBef>
              <a:buNone/>
            </a:pPr>
            <a:r>
              <a:rPr lang="ko-KR" sz="11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객체 ID 시퀀스·부팅 카운터·감사 로그. 롤백 탐지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62B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73" name="spine"/>
          <p:cNvSpPr/>
          <p:nvPr/>
        </p:nvSpPr>
        <p:spPr>
          <a:xfrm>
            <a:off x="0" y="0"/>
            <a:ext cx="210000" cy="6858000"/>
          </a:xfrm>
          <a:prstGeom prst="rect">
            <a:avLst/>
          </a:prstGeom>
          <a:solidFill>
            <a:srgbClr val="17827A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74" name="tx"/>
          <p:cNvSpPr/>
          <p:nvPr/>
        </p:nvSpPr>
        <p:spPr>
          <a:xfrm>
            <a:off x="900000" y="2650000"/>
            <a:ext cx="10672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300" b="1" dirty="0">
                <a:solidFill>
                  <a:srgbClr val="17827A"/>
                </a:solidFill>
                <a:latin typeface="Calibri"/>
                <a:ea typeface="Malgun Gothic"/>
                <a:cs typeface="Calibri"/>
              </a:rPr>
              <a:t>VOLATILE</a:t>
            </a:r>
          </a:p>
        </p:txBody>
      </p:sp>
      <p:sp>
        <p:nvSpPr>
          <p:cNvPr id="275" name="tx"/>
          <p:cNvSpPr/>
          <p:nvPr/>
        </p:nvSpPr>
        <p:spPr>
          <a:xfrm>
            <a:off x="880000" y="3050000"/>
            <a:ext cx="10672000" cy="1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ko-KR" sz="4000" b="1" dirty="0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휘발성(RAM) 저장 항목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77" name="spine"/>
          <p:cNvSpPr/>
          <p:nvPr/>
        </p:nvSpPr>
        <p:spPr>
          <a:xfrm>
            <a:off x="0" y="0"/>
            <a:ext cx="132000" cy="6858000"/>
          </a:xfrm>
          <a:prstGeom prst="rect">
            <a:avLst/>
          </a:prstGeom>
          <a:solidFill>
            <a:srgbClr val="17827A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78" name="tx"/>
          <p:cNvSpPr/>
          <p:nvPr/>
        </p:nvSpPr>
        <p:spPr>
          <a:xfrm>
            <a:off x="760000" y="360000"/>
            <a:ext cx="10672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150" b="1" dirty="0">
                <a:solidFill>
                  <a:srgbClr val="17827A"/>
                </a:solidFill>
                <a:latin typeface="Calibri"/>
                <a:ea typeface="Malgun Gothic"/>
                <a:cs typeface="Calibri"/>
              </a:rPr>
              <a:t>RAM</a:t>
            </a:r>
          </a:p>
        </p:txBody>
      </p:sp>
      <p:sp>
        <p:nvSpPr>
          <p:cNvPr id="279" name="fl"/>
          <p:cNvSpPr/>
          <p:nvPr/>
        </p:nvSpPr>
        <p:spPr>
          <a:xfrm>
            <a:off x="760000" y="6388000"/>
            <a:ext cx="10672000" cy="10000"/>
          </a:xfrm>
          <a:prstGeom prst="rect">
            <a:avLst/>
          </a:prstGeom>
          <a:solidFill>
            <a:srgbClr val="D7DDE4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80" name="tx"/>
          <p:cNvSpPr/>
          <p:nvPr/>
        </p:nvSpPr>
        <p:spPr>
          <a:xfrm>
            <a:off x="760000" y="6438000"/>
            <a:ext cx="9972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0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Token NCMP · 세션 상태 관리</a:t>
            </a:r>
          </a:p>
        </p:txBody>
      </p:sp>
      <p:sp>
        <p:nvSpPr>
          <p:cNvPr id="281" name="tx"/>
          <p:cNvSpPr/>
          <p:nvPr/>
        </p:nvSpPr>
        <p:spPr>
          <a:xfrm>
            <a:off x="10732000" y="6438000"/>
            <a:ext cx="7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0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08</a:t>
            </a:r>
          </a:p>
        </p:txBody>
      </p:sp>
      <p:sp>
        <p:nvSpPr>
          <p:cNvPr id="282" name="tx"/>
          <p:cNvSpPr/>
          <p:nvPr/>
        </p:nvSpPr>
        <p:spPr>
          <a:xfrm>
            <a:off x="760000" y="640000"/>
            <a:ext cx="10672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300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RAM 항목 — V1~V4</a:t>
            </a:r>
          </a:p>
        </p:txBody>
      </p:sp>
      <p:sp>
        <p:nvSpPr>
          <p:cNvPr id="283" name="ul"/>
          <p:cNvSpPr/>
          <p:nvPr/>
        </p:nvSpPr>
        <p:spPr>
          <a:xfrm>
            <a:off x="770000" y="1760000"/>
            <a:ext cx="720000" cy="60000"/>
          </a:xfrm>
          <a:prstGeom prst="rect">
            <a:avLst/>
          </a:prstGeom>
          <a:solidFill>
            <a:srgbClr val="17827A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84" name="card"/>
          <p:cNvSpPr/>
          <p:nvPr/>
        </p:nvSpPr>
        <p:spPr>
          <a:xfrm>
            <a:off x="760000" y="2080000"/>
            <a:ext cx="5236000" cy="1975000"/>
          </a:xfrm>
          <a:prstGeom prst="roundRect">
            <a:avLst/>
          </a:prstGeom>
          <a:solidFill>
            <a:srgbClr val="E3F2EF"/>
          </a:solidFill>
          <a:ln w="9525">
            <a:solidFill>
              <a:srgbClr val="D7DDE4"/>
            </a:solidFill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85" name="cbar"/>
          <p:cNvSpPr/>
          <p:nvPr/>
        </p:nvSpPr>
        <p:spPr>
          <a:xfrm>
            <a:off x="760000" y="2080000"/>
            <a:ext cx="70000" cy="1975000"/>
          </a:xfrm>
          <a:prstGeom prst="rect">
            <a:avLst/>
          </a:prstGeom>
          <a:solidFill>
            <a:srgbClr val="0E756B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86" name="tx"/>
          <p:cNvSpPr/>
          <p:nvPr/>
        </p:nvSpPr>
        <p:spPr>
          <a:xfrm>
            <a:off x="820000" y="2080000"/>
            <a:ext cx="5116000" cy="1975000"/>
          </a:xfrm>
          <a:prstGeom prst="rect">
            <a:avLst/>
          </a:prstGeom>
          <a:noFill/>
          <a:ln>
            <a:noFill/>
          </a:ln>
        </p:spPr>
        <p:txBody>
          <a:bodyPr wrap="square" lIns="150000" tIns="120000" rIns="150000" bIns="120000" anchor="ctr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0E756B"/>
                </a:solidFill>
                <a:latin typeface="Calibri"/>
                <a:ea typeface="Malgun Gothic"/>
                <a:cs typeface="Calibri"/>
              </a:rPr>
              <a:t>V1 · 세션 테이블</a:t>
            </a:r>
          </a:p>
          <a:p>
            <a:pPr marL="0" indent="0" algn="l">
              <a:lnSpc>
                <a:spcPct val="112000"/>
              </a:lnSpc>
              <a:spcBef>
                <a:spcPts val="400"/>
              </a:spcBef>
              <a:buNone/>
            </a:pPr>
            <a:r>
              <a:rPr lang="ko-KR" sz="11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session_id→상태·소유·진행 연산 참조 (슬롯당 8/전체 32)</a:t>
            </a:r>
          </a:p>
        </p:txBody>
      </p:sp>
      <p:sp>
        <p:nvSpPr>
          <p:cNvPr id="287" name="card"/>
          <p:cNvSpPr/>
          <p:nvPr/>
        </p:nvSpPr>
        <p:spPr>
          <a:xfrm>
            <a:off x="6196000" y="2080000"/>
            <a:ext cx="5236000" cy="1975000"/>
          </a:xfrm>
          <a:prstGeom prst="roundRect">
            <a:avLst/>
          </a:prstGeom>
          <a:solidFill>
            <a:srgbClr val="E3F2EF"/>
          </a:solidFill>
          <a:ln w="9525">
            <a:solidFill>
              <a:srgbClr val="D7DDE4"/>
            </a:solidFill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88" name="cbar"/>
          <p:cNvSpPr/>
          <p:nvPr/>
        </p:nvSpPr>
        <p:spPr>
          <a:xfrm>
            <a:off x="6196000" y="2080000"/>
            <a:ext cx="70000" cy="1975000"/>
          </a:xfrm>
          <a:prstGeom prst="rect">
            <a:avLst/>
          </a:prstGeom>
          <a:solidFill>
            <a:srgbClr val="0E756B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89" name="tx"/>
          <p:cNvSpPr/>
          <p:nvPr/>
        </p:nvSpPr>
        <p:spPr>
          <a:xfrm>
            <a:off x="6256000" y="2080000"/>
            <a:ext cx="5116000" cy="1975000"/>
          </a:xfrm>
          <a:prstGeom prst="rect">
            <a:avLst/>
          </a:prstGeom>
          <a:noFill/>
          <a:ln>
            <a:noFill/>
          </a:ln>
        </p:spPr>
        <p:txBody>
          <a:bodyPr wrap="square" lIns="150000" tIns="120000" rIns="150000" bIns="120000" anchor="ctr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0E756B"/>
                </a:solidFill>
                <a:latin typeface="Calibri"/>
                <a:ea typeface="Malgun Gothic"/>
                <a:cs typeface="Calibri"/>
              </a:rPr>
              <a:t>V2 · 로그인 상태</a:t>
            </a:r>
          </a:p>
          <a:p>
            <a:pPr marL="0" indent="0" algn="l">
              <a:lnSpc>
                <a:spcPct val="112000"/>
              </a:lnSpc>
              <a:spcBef>
                <a:spcPts val="400"/>
              </a:spcBef>
              <a:buNone/>
            </a:pPr>
            <a:r>
              <a:rPr lang="ko-KR" sz="11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현재 사용자 유형. 연결 단위로 관리, 리셋 시 로그아웃</a:t>
            </a:r>
          </a:p>
        </p:txBody>
      </p:sp>
      <p:sp>
        <p:nvSpPr>
          <p:cNvPr id="290" name="card"/>
          <p:cNvSpPr/>
          <p:nvPr/>
        </p:nvSpPr>
        <p:spPr>
          <a:xfrm>
            <a:off x="760000" y="4255000"/>
            <a:ext cx="5236000" cy="1975000"/>
          </a:xfrm>
          <a:prstGeom prst="roundRect">
            <a:avLst/>
          </a:prstGeom>
          <a:solidFill>
            <a:srgbClr val="D7ECE8"/>
          </a:solidFill>
          <a:ln w="9525">
            <a:solidFill>
              <a:srgbClr val="D7DDE4"/>
            </a:solidFill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91" name="cbar"/>
          <p:cNvSpPr/>
          <p:nvPr/>
        </p:nvSpPr>
        <p:spPr>
          <a:xfrm>
            <a:off x="760000" y="4255000"/>
            <a:ext cx="70000" cy="1975000"/>
          </a:xfrm>
          <a:prstGeom prst="rect">
            <a:avLst/>
          </a:prstGeom>
          <a:solidFill>
            <a:srgbClr val="0E756B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92" name="tx"/>
          <p:cNvSpPr/>
          <p:nvPr/>
        </p:nvSpPr>
        <p:spPr>
          <a:xfrm>
            <a:off x="820000" y="4255000"/>
            <a:ext cx="5116000" cy="1975000"/>
          </a:xfrm>
          <a:prstGeom prst="rect">
            <a:avLst/>
          </a:prstGeom>
          <a:noFill/>
          <a:ln>
            <a:noFill/>
          </a:ln>
        </p:spPr>
        <p:txBody>
          <a:bodyPr wrap="square" lIns="150000" tIns="120000" rIns="150000" bIns="120000" anchor="ctr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0E756B"/>
                </a:solidFill>
                <a:latin typeface="Calibri"/>
                <a:ea typeface="Malgun Gothic"/>
                <a:cs typeface="Calibri"/>
              </a:rPr>
              <a:t>★ V3 · 연산 컨텍스트</a:t>
            </a:r>
          </a:p>
          <a:p>
            <a:pPr marL="0" indent="0" algn="l">
              <a:lnSpc>
                <a:spcPct val="112000"/>
              </a:lnSpc>
              <a:spcBef>
                <a:spcPts val="400"/>
              </a:spcBef>
              <a:buNone/>
            </a:pPr>
            <a:r>
              <a:rPr lang="ko-KR" sz="11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진행 중 연산의 중간 상태 — 이 문서의 핵심. session_id로 격리·소거</a:t>
            </a:r>
          </a:p>
        </p:txBody>
      </p:sp>
      <p:sp>
        <p:nvSpPr>
          <p:cNvPr id="293" name="card"/>
          <p:cNvSpPr/>
          <p:nvPr/>
        </p:nvSpPr>
        <p:spPr>
          <a:xfrm>
            <a:off x="6196000" y="4255000"/>
            <a:ext cx="5236000" cy="1975000"/>
          </a:xfrm>
          <a:prstGeom prst="roundRect">
            <a:avLst/>
          </a:prstGeom>
          <a:solidFill>
            <a:srgbClr val="E3F2EF"/>
          </a:solidFill>
          <a:ln w="9525">
            <a:solidFill>
              <a:srgbClr val="D7DDE4"/>
            </a:solidFill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94" name="cbar"/>
          <p:cNvSpPr/>
          <p:nvPr/>
        </p:nvSpPr>
        <p:spPr>
          <a:xfrm>
            <a:off x="6196000" y="4255000"/>
            <a:ext cx="70000" cy="1975000"/>
          </a:xfrm>
          <a:prstGeom prst="rect">
            <a:avLst/>
          </a:prstGeom>
          <a:solidFill>
            <a:srgbClr val="0E756B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95" name="tx"/>
          <p:cNvSpPr/>
          <p:nvPr/>
        </p:nvSpPr>
        <p:spPr>
          <a:xfrm>
            <a:off x="6256000" y="4255000"/>
            <a:ext cx="5116000" cy="1975000"/>
          </a:xfrm>
          <a:prstGeom prst="rect">
            <a:avLst/>
          </a:prstGeom>
          <a:noFill/>
          <a:ln>
            <a:noFill/>
          </a:ln>
        </p:spPr>
        <p:txBody>
          <a:bodyPr wrap="square" lIns="150000" tIns="120000" rIns="150000" bIns="120000" anchor="ctr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0E756B"/>
                </a:solidFill>
                <a:latin typeface="Calibri"/>
                <a:ea typeface="Malgun Gothic"/>
                <a:cs typeface="Calibri"/>
              </a:rPr>
              <a:t>V4 · 세션 객체</a:t>
            </a:r>
          </a:p>
          <a:p>
            <a:pPr marL="0" indent="0" algn="l">
              <a:lnSpc>
                <a:spcPct val="112000"/>
              </a:lnSpc>
              <a:spcBef>
                <a:spcPts val="400"/>
              </a:spcBef>
              <a:buNone/>
            </a:pPr>
            <a:r>
              <a:rPr lang="ko-KR" sz="11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CKA_TOKEN=FALSE 객체 + 세션 스코프 핸들맵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97" name="spine"/>
          <p:cNvSpPr/>
          <p:nvPr/>
        </p:nvSpPr>
        <p:spPr>
          <a:xfrm>
            <a:off x="0" y="0"/>
            <a:ext cx="132000" cy="6858000"/>
          </a:xfrm>
          <a:prstGeom prst="rect">
            <a:avLst/>
          </a:prstGeom>
          <a:solidFill>
            <a:srgbClr val="17827A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298" name="tx"/>
          <p:cNvSpPr/>
          <p:nvPr/>
        </p:nvSpPr>
        <p:spPr>
          <a:xfrm>
            <a:off x="760000" y="360000"/>
            <a:ext cx="10672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150" b="1" dirty="0">
                <a:solidFill>
                  <a:srgbClr val="17827A"/>
                </a:solidFill>
                <a:latin typeface="Calibri"/>
                <a:ea typeface="Malgun Gothic"/>
                <a:cs typeface="Calibri"/>
              </a:rPr>
              <a:t>RAM</a:t>
            </a:r>
          </a:p>
        </p:txBody>
      </p:sp>
      <p:sp>
        <p:nvSpPr>
          <p:cNvPr id="299" name="fl"/>
          <p:cNvSpPr/>
          <p:nvPr/>
        </p:nvSpPr>
        <p:spPr>
          <a:xfrm>
            <a:off x="760000" y="6388000"/>
            <a:ext cx="10672000" cy="10000"/>
          </a:xfrm>
          <a:prstGeom prst="rect">
            <a:avLst/>
          </a:prstGeom>
          <a:solidFill>
            <a:srgbClr val="D7DDE4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00" name="tx"/>
          <p:cNvSpPr/>
          <p:nvPr/>
        </p:nvSpPr>
        <p:spPr>
          <a:xfrm>
            <a:off x="760000" y="6438000"/>
            <a:ext cx="9972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0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Token NCMP · 세션 상태 관리</a:t>
            </a:r>
          </a:p>
        </p:txBody>
      </p:sp>
      <p:sp>
        <p:nvSpPr>
          <p:cNvPr id="301" name="tx"/>
          <p:cNvSpPr/>
          <p:nvPr/>
        </p:nvSpPr>
        <p:spPr>
          <a:xfrm>
            <a:off x="10732000" y="6438000"/>
            <a:ext cx="7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0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09</a:t>
            </a:r>
          </a:p>
        </p:txBody>
      </p:sp>
      <p:sp>
        <p:nvSpPr>
          <p:cNvPr id="302" name="tx"/>
          <p:cNvSpPr/>
          <p:nvPr/>
        </p:nvSpPr>
        <p:spPr>
          <a:xfrm>
            <a:off x="760000" y="640000"/>
            <a:ext cx="10672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300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RAM 항목 — V5~V8</a:t>
            </a:r>
          </a:p>
        </p:txBody>
      </p:sp>
      <p:sp>
        <p:nvSpPr>
          <p:cNvPr id="303" name="ul"/>
          <p:cNvSpPr/>
          <p:nvPr/>
        </p:nvSpPr>
        <p:spPr>
          <a:xfrm>
            <a:off x="770000" y="1760000"/>
            <a:ext cx="720000" cy="60000"/>
          </a:xfrm>
          <a:prstGeom prst="rect">
            <a:avLst/>
          </a:prstGeom>
          <a:solidFill>
            <a:srgbClr val="17827A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04" name="card"/>
          <p:cNvSpPr/>
          <p:nvPr/>
        </p:nvSpPr>
        <p:spPr>
          <a:xfrm>
            <a:off x="760000" y="2080000"/>
            <a:ext cx="5236000" cy="1975000"/>
          </a:xfrm>
          <a:prstGeom prst="roundRect">
            <a:avLst/>
          </a:prstGeom>
          <a:solidFill>
            <a:srgbClr val="E3F2EF"/>
          </a:solidFill>
          <a:ln w="9525">
            <a:solidFill>
              <a:srgbClr val="D7DDE4"/>
            </a:solidFill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05" name="cbar"/>
          <p:cNvSpPr/>
          <p:nvPr/>
        </p:nvSpPr>
        <p:spPr>
          <a:xfrm>
            <a:off x="760000" y="2080000"/>
            <a:ext cx="70000" cy="1975000"/>
          </a:xfrm>
          <a:prstGeom prst="rect">
            <a:avLst/>
          </a:prstGeom>
          <a:solidFill>
            <a:srgbClr val="0E756B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06" name="tx"/>
          <p:cNvSpPr/>
          <p:nvPr/>
        </p:nvSpPr>
        <p:spPr>
          <a:xfrm>
            <a:off x="820000" y="2080000"/>
            <a:ext cx="5116000" cy="1975000"/>
          </a:xfrm>
          <a:prstGeom prst="rect">
            <a:avLst/>
          </a:prstGeom>
          <a:noFill/>
          <a:ln>
            <a:noFill/>
          </a:ln>
        </p:spPr>
        <p:txBody>
          <a:bodyPr wrap="square" lIns="150000" tIns="120000" rIns="150000" bIns="120000" anchor="ctr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0E756B"/>
                </a:solidFill>
                <a:latin typeface="Calibri"/>
                <a:ea typeface="Malgun Gothic"/>
                <a:cs typeface="Calibri"/>
              </a:rPr>
              <a:t>V5 · 엔진 작업 버퍼</a:t>
            </a:r>
          </a:p>
          <a:p>
            <a:pPr marL="0" indent="0" algn="l">
              <a:lnSpc>
                <a:spcPct val="112000"/>
              </a:lnSpc>
              <a:spcBef>
                <a:spcPts val="400"/>
              </a:spcBef>
              <a:buNone/>
            </a:pPr>
            <a:r>
              <a:rPr lang="ko-KR" sz="11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복호 평문·DMA·임시 스크래치. 사용 후 즉시 소거</a:t>
            </a:r>
          </a:p>
        </p:txBody>
      </p:sp>
      <p:sp>
        <p:nvSpPr>
          <p:cNvPr id="307" name="card"/>
          <p:cNvSpPr/>
          <p:nvPr/>
        </p:nvSpPr>
        <p:spPr>
          <a:xfrm>
            <a:off x="6196000" y="2080000"/>
            <a:ext cx="5236000" cy="1975000"/>
          </a:xfrm>
          <a:prstGeom prst="roundRect">
            <a:avLst/>
          </a:prstGeom>
          <a:solidFill>
            <a:srgbClr val="E3F2EF"/>
          </a:solidFill>
          <a:ln w="9525">
            <a:solidFill>
              <a:srgbClr val="D7DDE4"/>
            </a:solidFill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08" name="cbar"/>
          <p:cNvSpPr/>
          <p:nvPr/>
        </p:nvSpPr>
        <p:spPr>
          <a:xfrm>
            <a:off x="6196000" y="2080000"/>
            <a:ext cx="70000" cy="1975000"/>
          </a:xfrm>
          <a:prstGeom prst="rect">
            <a:avLst/>
          </a:prstGeom>
          <a:solidFill>
            <a:srgbClr val="0E756B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09" name="tx"/>
          <p:cNvSpPr/>
          <p:nvPr/>
        </p:nvSpPr>
        <p:spPr>
          <a:xfrm>
            <a:off x="6256000" y="2080000"/>
            <a:ext cx="5116000" cy="1975000"/>
          </a:xfrm>
          <a:prstGeom prst="rect">
            <a:avLst/>
          </a:prstGeom>
          <a:noFill/>
          <a:ln>
            <a:noFill/>
          </a:ln>
        </p:spPr>
        <p:txBody>
          <a:bodyPr wrap="square" lIns="150000" tIns="120000" rIns="150000" bIns="120000" anchor="ctr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0E756B"/>
                </a:solidFill>
                <a:latin typeface="Calibri"/>
                <a:ea typeface="Malgun Gothic"/>
                <a:cs typeface="Calibri"/>
              </a:rPr>
              <a:t>V6 · RNG/DRBG 상태</a:t>
            </a:r>
          </a:p>
          <a:p>
            <a:pPr marL="0" indent="0" algn="l">
              <a:lnSpc>
                <a:spcPct val="112000"/>
              </a:lnSpc>
              <a:spcBef>
                <a:spcPts val="400"/>
              </a:spcBef>
              <a:buNone/>
            </a:pPr>
            <a:r>
              <a:rPr lang="ko-KR" sz="11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부팅 시 HW 엔트로피로 시드. NVM 저장 금지</a:t>
            </a:r>
          </a:p>
        </p:txBody>
      </p:sp>
      <p:sp>
        <p:nvSpPr>
          <p:cNvPr id="310" name="card"/>
          <p:cNvSpPr/>
          <p:nvPr/>
        </p:nvSpPr>
        <p:spPr>
          <a:xfrm>
            <a:off x="760000" y="4255000"/>
            <a:ext cx="5236000" cy="1975000"/>
          </a:xfrm>
          <a:prstGeom prst="roundRect">
            <a:avLst/>
          </a:prstGeom>
          <a:solidFill>
            <a:srgbClr val="E3F2EF"/>
          </a:solidFill>
          <a:ln w="9525">
            <a:solidFill>
              <a:srgbClr val="D7DDE4"/>
            </a:solidFill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11" name="cbar"/>
          <p:cNvSpPr/>
          <p:nvPr/>
        </p:nvSpPr>
        <p:spPr>
          <a:xfrm>
            <a:off x="760000" y="4255000"/>
            <a:ext cx="70000" cy="1975000"/>
          </a:xfrm>
          <a:prstGeom prst="rect">
            <a:avLst/>
          </a:prstGeom>
          <a:solidFill>
            <a:srgbClr val="0E756B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12" name="tx"/>
          <p:cNvSpPr/>
          <p:nvPr/>
        </p:nvSpPr>
        <p:spPr>
          <a:xfrm>
            <a:off x="820000" y="4255000"/>
            <a:ext cx="5116000" cy="1975000"/>
          </a:xfrm>
          <a:prstGeom prst="rect">
            <a:avLst/>
          </a:prstGeom>
          <a:noFill/>
          <a:ln>
            <a:noFill/>
          </a:ln>
        </p:spPr>
        <p:txBody>
          <a:bodyPr wrap="square" lIns="150000" tIns="120000" rIns="150000" bIns="120000" anchor="ctr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0E756B"/>
                </a:solidFill>
                <a:latin typeface="Calibri"/>
                <a:ea typeface="Malgun Gothic"/>
                <a:cs typeface="Calibri"/>
              </a:rPr>
              <a:t>V7 · 전송/스케줄 상태</a:t>
            </a:r>
          </a:p>
          <a:p>
            <a:pPr marL="0" indent="0" algn="l">
              <a:lnSpc>
                <a:spcPct val="112000"/>
              </a:lnSpc>
              <a:spcBef>
                <a:spcPts val="400"/>
              </a:spcBef>
              <a:buNone/>
            </a:pPr>
            <a:r>
              <a:rPr lang="ko-KR" sz="11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컨테이너 점유·in-flight·sequence 매칭</a:t>
            </a:r>
          </a:p>
        </p:txBody>
      </p:sp>
      <p:sp>
        <p:nvSpPr>
          <p:cNvPr id="313" name="card"/>
          <p:cNvSpPr/>
          <p:nvPr/>
        </p:nvSpPr>
        <p:spPr>
          <a:xfrm>
            <a:off x="6196000" y="4255000"/>
            <a:ext cx="5236000" cy="1975000"/>
          </a:xfrm>
          <a:prstGeom prst="roundRect">
            <a:avLst/>
          </a:prstGeom>
          <a:solidFill>
            <a:srgbClr val="E3F2EF"/>
          </a:solidFill>
          <a:ln w="9525">
            <a:solidFill>
              <a:srgbClr val="D7DDE4"/>
            </a:solidFill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14" name="cbar"/>
          <p:cNvSpPr/>
          <p:nvPr/>
        </p:nvSpPr>
        <p:spPr>
          <a:xfrm>
            <a:off x="6196000" y="4255000"/>
            <a:ext cx="70000" cy="1975000"/>
          </a:xfrm>
          <a:prstGeom prst="rect">
            <a:avLst/>
          </a:prstGeom>
          <a:solidFill>
            <a:srgbClr val="0E756B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15" name="tx"/>
          <p:cNvSpPr/>
          <p:nvPr/>
        </p:nvSpPr>
        <p:spPr>
          <a:xfrm>
            <a:off x="6256000" y="4255000"/>
            <a:ext cx="5116000" cy="1975000"/>
          </a:xfrm>
          <a:prstGeom prst="rect">
            <a:avLst/>
          </a:prstGeom>
          <a:noFill/>
          <a:ln>
            <a:noFill/>
          </a:ln>
        </p:spPr>
        <p:txBody>
          <a:bodyPr wrap="square" lIns="150000" tIns="120000" rIns="150000" bIns="120000" anchor="ctr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0E756B"/>
                </a:solidFill>
                <a:latin typeface="Calibri"/>
                <a:ea typeface="Malgun Gothic"/>
                <a:cs typeface="Calibri"/>
              </a:rPr>
              <a:t>V8 · 복호 마스터키 캐시</a:t>
            </a:r>
          </a:p>
          <a:p>
            <a:pPr marL="0" indent="0" algn="l">
              <a:lnSpc>
                <a:spcPct val="112000"/>
              </a:lnSpc>
              <a:spcBef>
                <a:spcPts val="400"/>
              </a:spcBef>
              <a:buNone/>
            </a:pPr>
            <a:r>
              <a:rPr lang="ko-KR" sz="11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at-rest 키의 런타임 사본. 유휴/리셋 시 소거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17" name="spine"/>
          <p:cNvSpPr/>
          <p:nvPr/>
        </p:nvSpPr>
        <p:spPr>
          <a:xfrm>
            <a:off x="0" y="0"/>
            <a:ext cx="132000" cy="6858000"/>
          </a:xfrm>
          <a:prstGeom prst="rect">
            <a:avLst/>
          </a:prstGeom>
          <a:solidFill>
            <a:srgbClr val="17827A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18" name="tx"/>
          <p:cNvSpPr/>
          <p:nvPr/>
        </p:nvSpPr>
        <p:spPr>
          <a:xfrm>
            <a:off x="760000" y="360000"/>
            <a:ext cx="10672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150" b="1" dirty="0">
                <a:solidFill>
                  <a:srgbClr val="17827A"/>
                </a:solidFill>
                <a:latin typeface="Calibri"/>
                <a:ea typeface="Malgun Gothic"/>
                <a:cs typeface="Calibri"/>
              </a:rPr>
              <a:t>컨텍스트</a:t>
            </a:r>
          </a:p>
        </p:txBody>
      </p:sp>
      <p:sp>
        <p:nvSpPr>
          <p:cNvPr id="319" name="fl"/>
          <p:cNvSpPr/>
          <p:nvPr/>
        </p:nvSpPr>
        <p:spPr>
          <a:xfrm>
            <a:off x="760000" y="6388000"/>
            <a:ext cx="10672000" cy="10000"/>
          </a:xfrm>
          <a:prstGeom prst="rect">
            <a:avLst/>
          </a:prstGeom>
          <a:solidFill>
            <a:srgbClr val="D7DDE4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20" name="tx"/>
          <p:cNvSpPr/>
          <p:nvPr/>
        </p:nvSpPr>
        <p:spPr>
          <a:xfrm>
            <a:off x="760000" y="6438000"/>
            <a:ext cx="9972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0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Token NCMP · 세션 상태 관리</a:t>
            </a:r>
          </a:p>
        </p:txBody>
      </p:sp>
      <p:sp>
        <p:nvSpPr>
          <p:cNvPr id="321" name="tx"/>
          <p:cNvSpPr/>
          <p:nvPr/>
        </p:nvSpPr>
        <p:spPr>
          <a:xfrm>
            <a:off x="10732000" y="6438000"/>
            <a:ext cx="7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0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10</a:t>
            </a:r>
          </a:p>
        </p:txBody>
      </p:sp>
      <p:sp>
        <p:nvSpPr>
          <p:cNvPr id="322" name="tx"/>
          <p:cNvSpPr/>
          <p:nvPr/>
        </p:nvSpPr>
        <p:spPr>
          <a:xfrm>
            <a:off x="760000" y="640000"/>
            <a:ext cx="10672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300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세션 컨텍스트 (mechanism별 중간 상태)</a:t>
            </a:r>
          </a:p>
        </p:txBody>
      </p:sp>
      <p:sp>
        <p:nvSpPr>
          <p:cNvPr id="323" name="ul"/>
          <p:cNvSpPr/>
          <p:nvPr/>
        </p:nvSpPr>
        <p:spPr>
          <a:xfrm>
            <a:off x="770000" y="1760000"/>
            <a:ext cx="720000" cy="60000"/>
          </a:xfrm>
          <a:prstGeom prst="rect">
            <a:avLst/>
          </a:prstGeom>
          <a:solidFill>
            <a:srgbClr val="17827A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24" name="tx"/>
          <p:cNvSpPr/>
          <p:nvPr/>
        </p:nvSpPr>
        <p:spPr>
          <a:xfrm>
            <a:off x="760000" y="2060000"/>
            <a:ext cx="10672000" cy="4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AES-GCM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— 키/IV·J0·카운터, GHASH 누적자, AAD·평문 길이, 태그 상태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AES-CTR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— 키, 현재 카운터 블록, 스트림 바이트 오프셋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SHA-2 / SHA-3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— 해시 체이닝 상태, 부분 블록 버퍼, 총 길이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SHAKE (XOF)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— 스펀지 상태 + 이미 스퀴즈한 출력 바이트 수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ML-DSA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— 프리해시 컨텍스트, 도메인/컨텍스트, hedge 모드 (키는 NVM 로드)</a:t>
            </a:r>
          </a:p>
          <a:p>
            <a:pPr marL="250000" indent="-250000" algn="l">
              <a:lnSpc>
                <a:spcPct val="112000"/>
              </a:lnSpc>
              <a:spcBef>
                <a:spcPts val="1000"/>
              </a:spcBef>
              <a:buFont typeface="Arial"/>
              <a:buChar char="●"/>
            </a:pPr>
            <a:r>
              <a:rPr lang="ko-KR" sz="175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ML-KEM</a:t>
            </a:r>
            <a:r>
              <a:rPr lang="ko-KR" sz="17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 — 대부분 단발. 공유비밀은 키 객체로 생성(V4/N5)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26" name="spine"/>
          <p:cNvSpPr/>
          <p:nvPr/>
        </p:nvSpPr>
        <p:spPr>
          <a:xfrm>
            <a:off x="0" y="0"/>
            <a:ext cx="132000" cy="6858000"/>
          </a:xfrm>
          <a:prstGeom prst="rect">
            <a:avLst/>
          </a:prstGeom>
          <a:solidFill>
            <a:srgbClr val="17827A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27" name="tx"/>
          <p:cNvSpPr/>
          <p:nvPr/>
        </p:nvSpPr>
        <p:spPr>
          <a:xfrm>
            <a:off x="760000" y="360000"/>
            <a:ext cx="10672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150" b="1" dirty="0">
                <a:solidFill>
                  <a:srgbClr val="17827A"/>
                </a:solidFill>
                <a:latin typeface="Calibri"/>
                <a:ea typeface="Malgun Gothic"/>
                <a:cs typeface="Calibri"/>
              </a:rPr>
              <a:t>요약</a:t>
            </a:r>
          </a:p>
        </p:txBody>
      </p:sp>
      <p:sp>
        <p:nvSpPr>
          <p:cNvPr id="328" name="fl"/>
          <p:cNvSpPr/>
          <p:nvPr/>
        </p:nvSpPr>
        <p:spPr>
          <a:xfrm>
            <a:off x="760000" y="6388000"/>
            <a:ext cx="10672000" cy="10000"/>
          </a:xfrm>
          <a:prstGeom prst="rect">
            <a:avLst/>
          </a:prstGeom>
          <a:solidFill>
            <a:srgbClr val="D7DDE4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29" name="tx"/>
          <p:cNvSpPr/>
          <p:nvPr/>
        </p:nvSpPr>
        <p:spPr>
          <a:xfrm>
            <a:off x="760000" y="6438000"/>
            <a:ext cx="9972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0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Token NCMP · 세션 상태 관리</a:t>
            </a:r>
          </a:p>
        </p:txBody>
      </p:sp>
      <p:sp>
        <p:nvSpPr>
          <p:cNvPr id="330" name="tx"/>
          <p:cNvSpPr/>
          <p:nvPr/>
        </p:nvSpPr>
        <p:spPr>
          <a:xfrm>
            <a:off x="10732000" y="6438000"/>
            <a:ext cx="7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lnSpc>
                <a:spcPct val="108000"/>
              </a:lnSpc>
              <a:spcBef>
                <a:spcPts val="0"/>
              </a:spcBef>
              <a:buNone/>
            </a:pPr>
            <a:r>
              <a:rPr lang="ko-KR" sz="1000" dirty="0">
                <a:solidFill>
                  <a:srgbClr val="5C6A79"/>
                </a:solidFill>
                <a:latin typeface="Calibri"/>
                <a:ea typeface="Malgun Gothic"/>
                <a:cs typeface="Calibri"/>
              </a:rPr>
              <a:t>11</a:t>
            </a:r>
          </a:p>
        </p:txBody>
      </p:sp>
      <p:sp>
        <p:nvSpPr>
          <p:cNvPr id="331" name="tx"/>
          <p:cNvSpPr/>
          <p:nvPr/>
        </p:nvSpPr>
        <p:spPr>
          <a:xfrm>
            <a:off x="760000" y="640000"/>
            <a:ext cx="10672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3000" b="1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요약 — NVM vs 휘발성(RAM)</a:t>
            </a:r>
          </a:p>
        </p:txBody>
      </p:sp>
      <p:sp>
        <p:nvSpPr>
          <p:cNvPr id="332" name="ul"/>
          <p:cNvSpPr/>
          <p:nvPr/>
        </p:nvSpPr>
        <p:spPr>
          <a:xfrm>
            <a:off x="770000" y="1760000"/>
            <a:ext cx="720000" cy="60000"/>
          </a:xfrm>
          <a:prstGeom prst="rect">
            <a:avLst/>
          </a:prstGeom>
          <a:solidFill>
            <a:srgbClr val="17827A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33" name="card"/>
          <p:cNvSpPr/>
          <p:nvPr/>
        </p:nvSpPr>
        <p:spPr>
          <a:xfrm>
            <a:off x="760000" y="2080000"/>
            <a:ext cx="5236000" cy="4150000"/>
          </a:xfrm>
          <a:prstGeom prst="roundRect">
            <a:avLst/>
          </a:prstGeom>
          <a:solidFill>
            <a:srgbClr val="F7EFE1"/>
          </a:solidFill>
          <a:ln w="9525">
            <a:solidFill>
              <a:srgbClr val="D7DDE4"/>
            </a:solidFill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34" name="cbar"/>
          <p:cNvSpPr/>
          <p:nvPr/>
        </p:nvSpPr>
        <p:spPr>
          <a:xfrm>
            <a:off x="760000" y="2080000"/>
            <a:ext cx="70000" cy="4150000"/>
          </a:xfrm>
          <a:prstGeom prst="rect">
            <a:avLst/>
          </a:prstGeom>
          <a:solidFill>
            <a:srgbClr val="9A6A1E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35" name="tx"/>
          <p:cNvSpPr/>
          <p:nvPr/>
        </p:nvSpPr>
        <p:spPr>
          <a:xfrm>
            <a:off x="820000" y="2080000"/>
            <a:ext cx="5116000" cy="4150000"/>
          </a:xfrm>
          <a:prstGeom prst="rect">
            <a:avLst/>
          </a:prstGeom>
          <a:noFill/>
          <a:ln>
            <a:noFill/>
          </a:ln>
        </p:spPr>
        <p:txBody>
          <a:bodyPr wrap="square" lIns="150000" tIns="120000" rIns="150000" bIns="120000" anchor="ctr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9A6A1E"/>
                </a:solidFill>
                <a:latin typeface="Calibri"/>
                <a:ea typeface="Malgun Gothic"/>
                <a:cs typeface="Calibri"/>
              </a:rPr>
              <a:t>비휘발성 (NVM)</a:t>
            </a:r>
          </a:p>
          <a:p>
            <a:pPr marL="0" indent="0" algn="l">
              <a:lnSpc>
                <a:spcPct val="112000"/>
              </a:lnSpc>
              <a:spcBef>
                <a:spcPts val="400"/>
              </a:spcBef>
              <a:buNone/>
            </a:pPr>
            <a:r>
              <a:rPr lang="ko-KR" sz="11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정체성 · 초기화/PIN 플래그 · SO/User PIN 검증자 · 토큰 객체(키, 암호화) · 마스터키 · 카운터  →  전원 무관 영속</a:t>
            </a:r>
          </a:p>
        </p:txBody>
      </p:sp>
      <p:sp>
        <p:nvSpPr>
          <p:cNvPr id="336" name="card"/>
          <p:cNvSpPr/>
          <p:nvPr/>
        </p:nvSpPr>
        <p:spPr>
          <a:xfrm>
            <a:off x="6196000" y="2080000"/>
            <a:ext cx="5236000" cy="4150000"/>
          </a:xfrm>
          <a:prstGeom prst="roundRect">
            <a:avLst/>
          </a:prstGeom>
          <a:solidFill>
            <a:srgbClr val="E3F2EF"/>
          </a:solidFill>
          <a:ln w="9525">
            <a:solidFill>
              <a:srgbClr val="D7DDE4"/>
            </a:solidFill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37" name="cbar"/>
          <p:cNvSpPr/>
          <p:nvPr/>
        </p:nvSpPr>
        <p:spPr>
          <a:xfrm>
            <a:off x="6196000" y="2080000"/>
            <a:ext cx="70000" cy="4150000"/>
          </a:xfrm>
          <a:prstGeom prst="rect">
            <a:avLst/>
          </a:prstGeom>
          <a:solidFill>
            <a:srgbClr val="0E756B"/>
          </a:solidFill>
          <a:ln>
            <a:noFill/>
          </a:ln>
        </p:spPr>
        <p:txBody>
          <a:bodyPr wrap="square" lIns="120000" tIns="90000" rIns="120000" bIns="90000" anchor="t">
            <a:normAutofit/>
          </a:bodyPr>
          <a:lstStyle/>
          <a:p>
            <a:pPr>
              <a:buNone/>
            </a:pPr>
            <a:endParaRPr lang="ko-KR"/>
          </a:p>
        </p:txBody>
      </p:sp>
      <p:sp>
        <p:nvSpPr>
          <p:cNvPr id="338" name="tx"/>
          <p:cNvSpPr/>
          <p:nvPr/>
        </p:nvSpPr>
        <p:spPr>
          <a:xfrm>
            <a:off x="6256000" y="2080000"/>
            <a:ext cx="5116000" cy="4150000"/>
          </a:xfrm>
          <a:prstGeom prst="rect">
            <a:avLst/>
          </a:prstGeom>
          <a:noFill/>
          <a:ln>
            <a:noFill/>
          </a:ln>
        </p:spPr>
        <p:txBody>
          <a:bodyPr wrap="square" lIns="150000" tIns="120000" rIns="150000" bIns="120000" anchor="ctr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0E756B"/>
                </a:solidFill>
                <a:latin typeface="Calibri"/>
                <a:ea typeface="Malgun Gothic"/>
                <a:cs typeface="Calibri"/>
              </a:rPr>
              <a:t>휘발성 (RAM)</a:t>
            </a:r>
          </a:p>
          <a:p>
            <a:pPr marL="0" indent="0" algn="l">
              <a:lnSpc>
                <a:spcPct val="112000"/>
              </a:lnSpc>
              <a:spcBef>
                <a:spcPts val="400"/>
              </a:spcBef>
              <a:buNone/>
            </a:pPr>
            <a:r>
              <a:rPr lang="ko-KR" sz="1150" dirty="0">
                <a:solidFill>
                  <a:srgbClr val="17222E"/>
                </a:solidFill>
                <a:latin typeface="Calibri"/>
                <a:ea typeface="Malgun Gothic"/>
                <a:cs typeface="Calibri"/>
              </a:rPr>
              <a:t>세션 테이블 · 로그인 · 연산 컨텍스트(V3) · 세션 객체 · 엔진 버퍼 · RNG · 복호 키캐시  →  세션/리셋 시 소거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CMP">
  <a:themeElements>
    <a:clrScheme name="NCMP">
      <a:dk1>
        <a:sysClr val="windowText" lastClr="000000"/>
      </a:dk1>
      <a:lt1>
        <a:sysClr val="window" lastClr="FFFFFF"/>
      </a:lt1>
      <a:dk2>
        <a:srgbClr val="10262B"/>
      </a:dk2>
      <a:lt2>
        <a:srgbClr val="ECF1F6"/>
      </a:lt2>
      <a:accent1>
        <a:srgbClr val="17827A"/>
      </a:accent1>
      <a:accent2>
        <a:srgbClr val="9A6A1E"/>
      </a:accent2>
      <a:accent3>
        <a:srgbClr val="10262B"/>
      </a:accent3>
      <a:accent4>
        <a:srgbClr val="5C6A79"/>
      </a:accent4>
      <a:accent5>
        <a:srgbClr val="17827A"/>
      </a:accent5>
      <a:accent6>
        <a:srgbClr val="9A6A1E"/>
      </a:accent6>
      <a:hlink>
        <a:srgbClr val="17827A"/>
      </a:hlink>
      <a:folHlink>
        <a:srgbClr val="17827A"/>
      </a:folHlink>
    </a:clrScheme>
    <a:fontScheme name="NCMP">
      <a:majorFont>
        <a:latin typeface="Calibri"/>
        <a:ea typeface="Malgun Gothic"/>
        <a:cs typeface=""/>
      </a:majorFont>
      <a:minorFont>
        <a:latin typeface="Calibri"/>
        <a:ea typeface="Malgun Gothic"/>
        <a:cs typeface=""/>
      </a:minorFont>
    </a:fontScheme>
    <a:fmtScheme name="NCMP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>
            <a:shade val="78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세션 상태 관리</dc:title>
  <dc:creator>Token NCMP</dc:creator>
  <cp:lastModifiedBy>Token NCMP</cp:lastModifiedBy>
  <dcterms:created xsi:type="dcterms:W3CDTF">2026-09-02T12:51:32Z</dcterms:created>
  <dcterms:modified xsi:type="dcterms:W3CDTF">2026-09-02T12:51:32Z</dcterms:modified>
</cp:coreProperties>
</file>