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>
          <a:latin typeface="Calibri"/>
          <a:ea typeface="Malgun Gothic"/>
        </a:defRPr>
      </a:lvl1pPr>
    </p:titleStyle>
    <p:bodyStyle>
      <a:lvl1pPr>
        <a:defRPr sz="1800">
          <a:latin typeface="Calibri"/>
          <a:ea typeface="Malgun Gothic"/>
        </a:defRPr>
      </a:lvl1pPr>
    </p:bodyStyle>
    <p:otherStyle>
      <a:lvl1pPr>
        <a:defRPr sz="1800">
          <a:latin typeface="Calibri"/>
          <a:ea typeface="Malgun Gothic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A3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40" name="spine"/>
          <p:cNvSpPr/>
          <p:nvPr/>
        </p:nvSpPr>
        <p:spPr>
          <a:xfrm>
            <a:off x="0" y="0"/>
            <a:ext cx="210000" cy="6858000"/>
          </a:xfrm>
          <a:prstGeom prst="rect">
            <a:avLst/>
          </a:prstGeom>
          <a:solidFill>
            <a:srgbClr val="5B4BD6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41" name="blk"/>
          <p:cNvSpPr/>
          <p:nvPr/>
        </p:nvSpPr>
        <p:spPr>
          <a:xfrm>
            <a:off x="9592000" y="0"/>
            <a:ext cx="2600000" cy="6858000"/>
          </a:xfrm>
          <a:prstGeom prst="rect">
            <a:avLst/>
          </a:prstGeom>
          <a:solidFill>
            <a:srgbClr val="272657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42" name="blkln"/>
          <p:cNvSpPr/>
          <p:nvPr/>
        </p:nvSpPr>
        <p:spPr>
          <a:xfrm>
            <a:off x="9592000" y="0"/>
            <a:ext cx="60000" cy="6858000"/>
          </a:xfrm>
          <a:prstGeom prst="rect">
            <a:avLst/>
          </a:prstGeom>
          <a:solidFill>
            <a:srgbClr val="5B4BD6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43" name="tx"/>
          <p:cNvSpPr/>
          <p:nvPr/>
        </p:nvSpPr>
        <p:spPr>
          <a:xfrm>
            <a:off x="920000" y="1500000"/>
            <a:ext cx="8292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400" b="1" dirty="0">
                <a:solidFill>
                  <a:srgbClr val="5B4BD6"/>
                </a:solidFill>
                <a:latin typeface="Calibri"/>
                <a:ea typeface="Malgun Gothic"/>
                <a:cs typeface="Calibri"/>
              </a:rPr>
              <a:t>STDLL CALL FLOW</a:t>
            </a:r>
          </a:p>
        </p:txBody>
      </p:sp>
      <p:sp>
        <p:nvSpPr>
          <p:cNvPr id="344" name="tx"/>
          <p:cNvSpPr/>
          <p:nvPr/>
        </p:nvSpPr>
        <p:spPr>
          <a:xfrm>
            <a:off x="900000" y="1950000"/>
            <a:ext cx="8592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5400" b="1" dirty="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STDLL 호출 흐름</a:t>
            </a:r>
          </a:p>
        </p:txBody>
      </p:sp>
      <p:sp>
        <p:nvSpPr>
          <p:cNvPr id="345" name="tx"/>
          <p:cNvSpPr/>
          <p:nvPr/>
        </p:nvSpPr>
        <p:spPr>
          <a:xfrm>
            <a:off x="920000" y="4350000"/>
            <a:ext cx="8592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ko-KR" sz="2000" dirty="0">
                <a:solidFill>
                  <a:srgbClr val="AEB9C6"/>
                </a:solidFill>
                <a:latin typeface="Calibri"/>
                <a:ea typeface="Malgun Gothic"/>
                <a:cs typeface="Calibri"/>
              </a:rPr>
              <a:t>표준 opencryptoki 3층 경로 — API → new_host → token_specific → ncmpd</a:t>
            </a:r>
          </a:p>
        </p:txBody>
      </p:sp>
      <p:sp>
        <p:nvSpPr>
          <p:cNvPr id="346" name="tx"/>
          <p:cNvSpPr/>
          <p:nvPr/>
        </p:nvSpPr>
        <p:spPr>
          <a:xfrm>
            <a:off x="920000" y="5300000"/>
            <a:ext cx="8592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250000" indent="-250000" algn="l">
              <a:lnSpc>
                <a:spcPct val="108000"/>
              </a:lnSpc>
              <a:spcBef>
                <a:spcPts val="120"/>
              </a:spcBef>
              <a:buFont typeface="Arial"/>
              <a:buChar char="—"/>
            </a:pPr>
            <a:r>
              <a:rPr lang="ko-KR" sz="1150" dirty="0">
                <a:solidFill>
                  <a:srgbClr val="AEB9C6"/>
                </a:solidFill>
                <a:latin typeface="Calibri"/>
                <a:ea typeface="Malgun Gothic"/>
                <a:cs typeface="Calibri"/>
              </a:rPr>
              <a:t>C_Initialize → C_OpenSession → C_EncryptInit → C_Encrypt</a:t>
            </a:r>
          </a:p>
          <a:p>
            <a:pPr marL="250000" indent="-250000" algn="l">
              <a:lnSpc>
                <a:spcPct val="108000"/>
              </a:lnSpc>
              <a:spcBef>
                <a:spcPts val="120"/>
              </a:spcBef>
              <a:buFont typeface="Arial"/>
              <a:buChar char="—"/>
            </a:pPr>
            <a:r>
              <a:rPr lang="ko-KR" sz="1150" dirty="0">
                <a:solidFill>
                  <a:srgbClr val="AEB9C6"/>
                </a:solidFill>
                <a:latin typeface="Calibri"/>
                <a:ea typeface="Malgun Gothic"/>
                <a:cs typeface="Calibri"/>
              </a:rPr>
              <a:t>함수 포인터 2단 디스패치 · 프록시 모델</a:t>
            </a:r>
          </a:p>
          <a:p>
            <a:pPr marL="250000" indent="-250000" algn="l">
              <a:lnSpc>
                <a:spcPct val="108000"/>
              </a:lnSpc>
              <a:spcBef>
                <a:spcPts val="120"/>
              </a:spcBef>
              <a:buFont typeface="Arial"/>
              <a:buChar char="—"/>
            </a:pPr>
            <a:r>
              <a:rPr lang="ko-KR" sz="1150" dirty="0">
                <a:solidFill>
                  <a:srgbClr val="AEB9C6"/>
                </a:solidFill>
                <a:latin typeface="Calibri"/>
                <a:ea typeface="Malgun Gothic"/>
                <a:cs typeface="Calibri"/>
              </a:rPr>
              <a:t>코드 레벨 파일:라인 추적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48" name="spine"/>
          <p:cNvSpPr/>
          <p:nvPr/>
        </p:nvSpPr>
        <p:spPr>
          <a:xfrm>
            <a:off x="0" y="0"/>
            <a:ext cx="132000" cy="6858000"/>
          </a:xfrm>
          <a:prstGeom prst="rect">
            <a:avLst/>
          </a:prstGeom>
          <a:solidFill>
            <a:srgbClr val="5B4BD6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49" name="tx"/>
          <p:cNvSpPr/>
          <p:nvPr/>
        </p:nvSpPr>
        <p:spPr>
          <a:xfrm>
            <a:off x="760000" y="360000"/>
            <a:ext cx="106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150" b="1" dirty="0">
                <a:solidFill>
                  <a:srgbClr val="5B4BD6"/>
                </a:solidFill>
                <a:latin typeface="Calibri"/>
                <a:ea typeface="Malgun Gothic"/>
                <a:cs typeface="Calibri"/>
              </a:rPr>
              <a:t>구조</a:t>
            </a:r>
          </a:p>
        </p:txBody>
      </p:sp>
      <p:sp>
        <p:nvSpPr>
          <p:cNvPr id="350" name="fl"/>
          <p:cNvSpPr/>
          <p:nvPr/>
        </p:nvSpPr>
        <p:spPr>
          <a:xfrm>
            <a:off x="760000" y="6388000"/>
            <a:ext cx="10672000" cy="10000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51" name="tx"/>
          <p:cNvSpPr/>
          <p:nvPr/>
        </p:nvSpPr>
        <p:spPr>
          <a:xfrm>
            <a:off x="760000" y="6438000"/>
            <a:ext cx="997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Token NCMP · STDLL 호출 흐름</a:t>
            </a:r>
          </a:p>
        </p:txBody>
      </p:sp>
      <p:sp>
        <p:nvSpPr>
          <p:cNvPr id="352" name="tx"/>
          <p:cNvSpPr/>
          <p:nvPr/>
        </p:nvSpPr>
        <p:spPr>
          <a:xfrm>
            <a:off x="10732000" y="6438000"/>
            <a:ext cx="7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02</a:t>
            </a:r>
          </a:p>
        </p:txBody>
      </p:sp>
      <p:sp>
        <p:nvSpPr>
          <p:cNvPr id="353" name="tx"/>
          <p:cNvSpPr/>
          <p:nvPr/>
        </p:nvSpPr>
        <p:spPr>
          <a:xfrm>
            <a:off x="760000" y="640000"/>
            <a:ext cx="10672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300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전체 3층 구조</a:t>
            </a:r>
          </a:p>
        </p:txBody>
      </p:sp>
      <p:sp>
        <p:nvSpPr>
          <p:cNvPr id="354" name="ul"/>
          <p:cNvSpPr/>
          <p:nvPr/>
        </p:nvSpPr>
        <p:spPr>
          <a:xfrm>
            <a:off x="770000" y="1760000"/>
            <a:ext cx="720000" cy="60000"/>
          </a:xfrm>
          <a:prstGeom prst="rect">
            <a:avLst/>
          </a:prstGeom>
          <a:solidFill>
            <a:srgbClr val="5B4BD6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55" name="tx"/>
          <p:cNvSpPr/>
          <p:nvPr/>
        </p:nvSpPr>
        <p:spPr>
          <a:xfrm>
            <a:off x="760000" y="2060000"/>
            <a:ext cx="10672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API 층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libopencryptoki.so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— </a:t>
            </a: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C_*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→ 슬롯별 </a:t>
            </a: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FcnList-&gt;ST_*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간접 호출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STDLL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libpkcs11_ncmp.so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(new_host.c) — </a:t>
            </a: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SC_*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→ 공통 mgr → </a:t>
            </a: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token_specific.t_*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token_specific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ncmp_specific.c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(proxy) — 키 원문 추출 후 와이어로 포워딩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ncmpd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— UNIX 소켓 + SHM robust 큐 → USB/mock → FX3</a:t>
            </a:r>
          </a:p>
          <a:p>
            <a:pPr marL="620000" indent="-260000" algn="l">
              <a:lnSpc>
                <a:spcPct val="110000"/>
              </a:lnSpc>
              <a:spcBef>
                <a:spcPts val="500"/>
              </a:spcBef>
              <a:buFont typeface="Arial"/>
              <a:buChar char="–"/>
            </a:pPr>
            <a:r>
              <a:rPr lang="ko-KR" sz="14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예: </a:t>
            </a:r>
            <a:r>
              <a:rPr lang="ko-KR" sz="140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ncmp_client_command_mp(NCMP_CMD_AES_ECB, [flags,key,data])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57" name="spine"/>
          <p:cNvSpPr/>
          <p:nvPr/>
        </p:nvSpPr>
        <p:spPr>
          <a:xfrm>
            <a:off x="0" y="0"/>
            <a:ext cx="132000" cy="6858000"/>
          </a:xfrm>
          <a:prstGeom prst="rect">
            <a:avLst/>
          </a:prstGeom>
          <a:solidFill>
            <a:srgbClr val="5B4BD6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58" name="tx"/>
          <p:cNvSpPr/>
          <p:nvPr/>
        </p:nvSpPr>
        <p:spPr>
          <a:xfrm>
            <a:off x="760000" y="360000"/>
            <a:ext cx="106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150" b="1" dirty="0">
                <a:solidFill>
                  <a:srgbClr val="5B4BD6"/>
                </a:solidFill>
                <a:latin typeface="Calibri"/>
                <a:ea typeface="Malgun Gothic"/>
                <a:cs typeface="Calibri"/>
              </a:rPr>
              <a:t>성질</a:t>
            </a:r>
          </a:p>
        </p:txBody>
      </p:sp>
      <p:sp>
        <p:nvSpPr>
          <p:cNvPr id="359" name="fl"/>
          <p:cNvSpPr/>
          <p:nvPr/>
        </p:nvSpPr>
        <p:spPr>
          <a:xfrm>
            <a:off x="760000" y="6388000"/>
            <a:ext cx="10672000" cy="10000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60" name="tx"/>
          <p:cNvSpPr/>
          <p:nvPr/>
        </p:nvSpPr>
        <p:spPr>
          <a:xfrm>
            <a:off x="760000" y="6438000"/>
            <a:ext cx="997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Token NCMP · STDLL 호출 흐름</a:t>
            </a:r>
          </a:p>
        </p:txBody>
      </p:sp>
      <p:sp>
        <p:nvSpPr>
          <p:cNvPr id="361" name="tx"/>
          <p:cNvSpPr/>
          <p:nvPr/>
        </p:nvSpPr>
        <p:spPr>
          <a:xfrm>
            <a:off x="10732000" y="6438000"/>
            <a:ext cx="7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03</a:t>
            </a:r>
          </a:p>
        </p:txBody>
      </p:sp>
      <p:sp>
        <p:nvSpPr>
          <p:cNvPr id="362" name="tx"/>
          <p:cNvSpPr/>
          <p:nvPr/>
        </p:nvSpPr>
        <p:spPr>
          <a:xfrm>
            <a:off x="760000" y="640000"/>
            <a:ext cx="10672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300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핵심 성질</a:t>
            </a:r>
          </a:p>
        </p:txBody>
      </p:sp>
      <p:sp>
        <p:nvSpPr>
          <p:cNvPr id="363" name="ul"/>
          <p:cNvSpPr/>
          <p:nvPr/>
        </p:nvSpPr>
        <p:spPr>
          <a:xfrm>
            <a:off x="770000" y="1760000"/>
            <a:ext cx="720000" cy="60000"/>
          </a:xfrm>
          <a:prstGeom prst="rect">
            <a:avLst/>
          </a:prstGeom>
          <a:solidFill>
            <a:srgbClr val="5B4BD6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64" name="card"/>
          <p:cNvSpPr/>
          <p:nvPr/>
        </p:nvSpPr>
        <p:spPr>
          <a:xfrm>
            <a:off x="760000" y="2080000"/>
            <a:ext cx="3424000" cy="4150000"/>
          </a:xfrm>
          <a:prstGeom prst="roundRect">
            <a:avLst/>
          </a:prstGeom>
          <a:solidFill>
            <a:srgbClr val="ECE9FB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65" name="cbar"/>
          <p:cNvSpPr/>
          <p:nvPr/>
        </p:nvSpPr>
        <p:spPr>
          <a:xfrm>
            <a:off x="760000" y="2080000"/>
            <a:ext cx="70000" cy="4150000"/>
          </a:xfrm>
          <a:prstGeom prst="rect">
            <a:avLst/>
          </a:prstGeom>
          <a:solidFill>
            <a:srgbClr val="5B4BD6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66" name="tx"/>
          <p:cNvSpPr/>
          <p:nvPr/>
        </p:nvSpPr>
        <p:spPr>
          <a:xfrm>
            <a:off x="820000" y="2080000"/>
            <a:ext cx="3304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5B4BD6"/>
                </a:solidFill>
                <a:latin typeface="Calibri"/>
                <a:ea typeface="Malgun Gothic"/>
                <a:cs typeface="Calibri"/>
              </a:rPr>
              <a:t>함수 포인터 2단 디스패치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C_Encrypt → FcnList-&gt;ST_Encrypt(=SC_Encrypt) → token_specific.t_aes_ecb</a:t>
            </a:r>
          </a:p>
        </p:txBody>
      </p:sp>
      <p:sp>
        <p:nvSpPr>
          <p:cNvPr id="367" name="card"/>
          <p:cNvSpPr/>
          <p:nvPr/>
        </p:nvSpPr>
        <p:spPr>
          <a:xfrm>
            <a:off x="4384000" y="2080000"/>
            <a:ext cx="3424000" cy="4150000"/>
          </a:xfrm>
          <a:prstGeom prst="roundRect">
            <a:avLst/>
          </a:prstGeom>
          <a:solidFill>
            <a:srgbClr val="F0EDFB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68" name="cbar"/>
          <p:cNvSpPr/>
          <p:nvPr/>
        </p:nvSpPr>
        <p:spPr>
          <a:xfrm>
            <a:off x="4384000" y="2080000"/>
            <a:ext cx="70000" cy="4150000"/>
          </a:xfrm>
          <a:prstGeom prst="rect">
            <a:avLst/>
          </a:prstGeom>
          <a:solidFill>
            <a:srgbClr val="8A7BE8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69" name="tx"/>
          <p:cNvSpPr/>
          <p:nvPr/>
        </p:nvSpPr>
        <p:spPr>
          <a:xfrm>
            <a:off x="4444000" y="2080000"/>
            <a:ext cx="3304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8A7BE8"/>
                </a:solidFill>
                <a:latin typeface="Calibri"/>
                <a:ea typeface="Malgun Gothic"/>
                <a:cs typeface="Calibri"/>
              </a:rPr>
              <a:t>pkcsslotd 는 경로 밖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슬롯 구성 제공 + 전역 SHM 생성만. 암·복호 왕복엔 미관여</a:t>
            </a:r>
          </a:p>
        </p:txBody>
      </p:sp>
      <p:sp>
        <p:nvSpPr>
          <p:cNvPr id="370" name="card"/>
          <p:cNvSpPr/>
          <p:nvPr/>
        </p:nvSpPr>
        <p:spPr>
          <a:xfrm>
            <a:off x="8008000" y="2080000"/>
            <a:ext cx="3424000" cy="4150000"/>
          </a:xfrm>
          <a:prstGeom prst="roundRect">
            <a:avLst/>
          </a:prstGeom>
          <a:solidFill>
            <a:srgbClr val="F7EEDD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71" name="cbar"/>
          <p:cNvSpPr/>
          <p:nvPr/>
        </p:nvSpPr>
        <p:spPr>
          <a:xfrm>
            <a:off x="8008000" y="2080000"/>
            <a:ext cx="70000" cy="415000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72" name="tx"/>
          <p:cNvSpPr/>
          <p:nvPr/>
        </p:nvSpPr>
        <p:spPr>
          <a:xfrm>
            <a:off x="8068000" y="2080000"/>
            <a:ext cx="3304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B26A00"/>
                </a:solidFill>
                <a:latin typeface="Calibri"/>
                <a:ea typeface="Malgun Gothic"/>
                <a:cs typeface="Calibri"/>
              </a:rPr>
              <a:t>상태는 STDLL 프로세스 로컬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세션·객체·로그인·키원문은 STDLL_TokData_t. 매 연산 키를 실어 보내는 프록시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74" name="spine"/>
          <p:cNvSpPr/>
          <p:nvPr/>
        </p:nvSpPr>
        <p:spPr>
          <a:xfrm>
            <a:off x="0" y="0"/>
            <a:ext cx="132000" cy="6858000"/>
          </a:xfrm>
          <a:prstGeom prst="rect">
            <a:avLst/>
          </a:prstGeom>
          <a:solidFill>
            <a:srgbClr val="5B4BD6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75" name="tx"/>
          <p:cNvSpPr/>
          <p:nvPr/>
        </p:nvSpPr>
        <p:spPr>
          <a:xfrm>
            <a:off x="760000" y="360000"/>
            <a:ext cx="106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150" b="1" dirty="0">
                <a:solidFill>
                  <a:srgbClr val="5B4BD6"/>
                </a:solidFill>
                <a:latin typeface="Calibri"/>
                <a:ea typeface="Malgun Gothic"/>
                <a:cs typeface="Calibri"/>
              </a:rPr>
              <a:t>0단계</a:t>
            </a:r>
          </a:p>
        </p:txBody>
      </p:sp>
      <p:sp>
        <p:nvSpPr>
          <p:cNvPr id="376" name="fl"/>
          <p:cNvSpPr/>
          <p:nvPr/>
        </p:nvSpPr>
        <p:spPr>
          <a:xfrm>
            <a:off x="760000" y="6388000"/>
            <a:ext cx="10672000" cy="10000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77" name="tx"/>
          <p:cNvSpPr/>
          <p:nvPr/>
        </p:nvSpPr>
        <p:spPr>
          <a:xfrm>
            <a:off x="760000" y="6438000"/>
            <a:ext cx="997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Token NCMP · STDLL 호출 흐름</a:t>
            </a:r>
          </a:p>
        </p:txBody>
      </p:sp>
      <p:sp>
        <p:nvSpPr>
          <p:cNvPr id="378" name="tx"/>
          <p:cNvSpPr/>
          <p:nvPr/>
        </p:nvSpPr>
        <p:spPr>
          <a:xfrm>
            <a:off x="10732000" y="6438000"/>
            <a:ext cx="7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04</a:t>
            </a:r>
          </a:p>
        </p:txBody>
      </p:sp>
      <p:sp>
        <p:nvSpPr>
          <p:cNvPr id="379" name="tx"/>
          <p:cNvSpPr/>
          <p:nvPr/>
        </p:nvSpPr>
        <p:spPr>
          <a:xfrm>
            <a:off x="760000" y="640000"/>
            <a:ext cx="10672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300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0단계 — C_Initialize (STDLL 로드)</a:t>
            </a:r>
          </a:p>
        </p:txBody>
      </p:sp>
      <p:sp>
        <p:nvSpPr>
          <p:cNvPr id="380" name="ul"/>
          <p:cNvSpPr/>
          <p:nvPr/>
        </p:nvSpPr>
        <p:spPr>
          <a:xfrm>
            <a:off x="770000" y="1760000"/>
            <a:ext cx="720000" cy="60000"/>
          </a:xfrm>
          <a:prstGeom prst="rect">
            <a:avLst/>
          </a:prstGeom>
          <a:solidFill>
            <a:srgbClr val="5B4BD6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81" name="tx"/>
          <p:cNvSpPr/>
          <p:nvPr/>
        </p:nvSpPr>
        <p:spPr>
          <a:xfrm>
            <a:off x="760000" y="2060000"/>
            <a:ext cx="10672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API층이 </a:t>
            </a: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pkcsslotd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접속 → </a:t>
            </a: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opencryptoki.conf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슬롯 구성 수신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슬롯마다 </a:t>
            </a: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DL_Load_and_Init()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: </a:t>
            </a: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dlopen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→ </a:t>
            </a: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dlsym(ST_Initialize)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→ 호출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ST_Initialize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가 </a:t>
            </a: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FcnList = &amp;function_list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(SC_* 함수테이블) 채움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TokData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할당 — 세션표·객체·로그인·private_data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token_specific.t_init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이 ncmpd 연결 + 물리 슬롯(</a:t>
            </a: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priv-&gt;ncmp_slot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) 세팅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83" name="spine"/>
          <p:cNvSpPr/>
          <p:nvPr/>
        </p:nvSpPr>
        <p:spPr>
          <a:xfrm>
            <a:off x="0" y="0"/>
            <a:ext cx="132000" cy="6858000"/>
          </a:xfrm>
          <a:prstGeom prst="rect">
            <a:avLst/>
          </a:prstGeom>
          <a:solidFill>
            <a:srgbClr val="5B4BD6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84" name="tx"/>
          <p:cNvSpPr/>
          <p:nvPr/>
        </p:nvSpPr>
        <p:spPr>
          <a:xfrm>
            <a:off x="760000" y="360000"/>
            <a:ext cx="106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150" b="1" dirty="0">
                <a:solidFill>
                  <a:srgbClr val="5B4BD6"/>
                </a:solidFill>
                <a:latin typeface="Calibri"/>
                <a:ea typeface="Malgun Gothic"/>
                <a:cs typeface="Calibri"/>
              </a:rPr>
              <a:t>1단계</a:t>
            </a:r>
          </a:p>
        </p:txBody>
      </p:sp>
      <p:sp>
        <p:nvSpPr>
          <p:cNvPr id="385" name="fl"/>
          <p:cNvSpPr/>
          <p:nvPr/>
        </p:nvSpPr>
        <p:spPr>
          <a:xfrm>
            <a:off x="760000" y="6388000"/>
            <a:ext cx="10672000" cy="10000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86" name="tx"/>
          <p:cNvSpPr/>
          <p:nvPr/>
        </p:nvSpPr>
        <p:spPr>
          <a:xfrm>
            <a:off x="760000" y="6438000"/>
            <a:ext cx="997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Token NCMP · STDLL 호출 흐름</a:t>
            </a:r>
          </a:p>
        </p:txBody>
      </p:sp>
      <p:sp>
        <p:nvSpPr>
          <p:cNvPr id="387" name="tx"/>
          <p:cNvSpPr/>
          <p:nvPr/>
        </p:nvSpPr>
        <p:spPr>
          <a:xfrm>
            <a:off x="10732000" y="6438000"/>
            <a:ext cx="7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05</a:t>
            </a:r>
          </a:p>
        </p:txBody>
      </p:sp>
      <p:sp>
        <p:nvSpPr>
          <p:cNvPr id="388" name="tx"/>
          <p:cNvSpPr/>
          <p:nvPr/>
        </p:nvSpPr>
        <p:spPr>
          <a:xfrm>
            <a:off x="760000" y="640000"/>
            <a:ext cx="10672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300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1단계 — C_OpenSession</a:t>
            </a:r>
          </a:p>
        </p:txBody>
      </p:sp>
      <p:sp>
        <p:nvSpPr>
          <p:cNvPr id="389" name="ul"/>
          <p:cNvSpPr/>
          <p:nvPr/>
        </p:nvSpPr>
        <p:spPr>
          <a:xfrm>
            <a:off x="770000" y="1760000"/>
            <a:ext cx="720000" cy="60000"/>
          </a:xfrm>
          <a:prstGeom prst="rect">
            <a:avLst/>
          </a:prstGeom>
          <a:solidFill>
            <a:srgbClr val="5B4BD6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90" name="tx"/>
          <p:cNvSpPr/>
          <p:nvPr/>
        </p:nvSpPr>
        <p:spPr>
          <a:xfrm>
            <a:off x="760000" y="2060000"/>
            <a:ext cx="10672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API </a:t>
            </a: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C_OpenSession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→ </a:t>
            </a: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Valid_Session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준비 → </a:t>
            </a: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ST_OpenSession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SC_OpenSession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(new_host.c:1040) → </a:t>
            </a: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session_mgr_new()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로 호스트 세션 생성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표준 모델에서 세션은 호스트 개념 — 토큰 왕복 필수는 아님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NCMP 변형: open_session 훅에서 SHM robust 카운터로 세션 상한 예약 가능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반환 </a:t>
            </a: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hSession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= (slotID, STDLL 세션핸들) 쌍으로 매핑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92" name="spine"/>
          <p:cNvSpPr/>
          <p:nvPr/>
        </p:nvSpPr>
        <p:spPr>
          <a:xfrm>
            <a:off x="0" y="0"/>
            <a:ext cx="132000" cy="6858000"/>
          </a:xfrm>
          <a:prstGeom prst="rect">
            <a:avLst/>
          </a:prstGeom>
          <a:solidFill>
            <a:srgbClr val="5B4BD6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93" name="tx"/>
          <p:cNvSpPr/>
          <p:nvPr/>
        </p:nvSpPr>
        <p:spPr>
          <a:xfrm>
            <a:off x="760000" y="360000"/>
            <a:ext cx="106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150" b="1" dirty="0">
                <a:solidFill>
                  <a:srgbClr val="5B4BD6"/>
                </a:solidFill>
                <a:latin typeface="Calibri"/>
                <a:ea typeface="Malgun Gothic"/>
                <a:cs typeface="Calibri"/>
              </a:rPr>
              <a:t>2단계</a:t>
            </a:r>
          </a:p>
        </p:txBody>
      </p:sp>
      <p:sp>
        <p:nvSpPr>
          <p:cNvPr id="394" name="fl"/>
          <p:cNvSpPr/>
          <p:nvPr/>
        </p:nvSpPr>
        <p:spPr>
          <a:xfrm>
            <a:off x="760000" y="6388000"/>
            <a:ext cx="10672000" cy="10000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95" name="tx"/>
          <p:cNvSpPr/>
          <p:nvPr/>
        </p:nvSpPr>
        <p:spPr>
          <a:xfrm>
            <a:off x="760000" y="6438000"/>
            <a:ext cx="997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Token NCMP · STDLL 호출 흐름</a:t>
            </a:r>
          </a:p>
        </p:txBody>
      </p:sp>
      <p:sp>
        <p:nvSpPr>
          <p:cNvPr id="396" name="tx"/>
          <p:cNvSpPr/>
          <p:nvPr/>
        </p:nvSpPr>
        <p:spPr>
          <a:xfrm>
            <a:off x="10732000" y="6438000"/>
            <a:ext cx="7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06</a:t>
            </a:r>
          </a:p>
        </p:txBody>
      </p:sp>
      <p:sp>
        <p:nvSpPr>
          <p:cNvPr id="397" name="tx"/>
          <p:cNvSpPr/>
          <p:nvPr/>
        </p:nvSpPr>
        <p:spPr>
          <a:xfrm>
            <a:off x="760000" y="640000"/>
            <a:ext cx="10672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300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2단계 — C_EncryptInit</a:t>
            </a:r>
          </a:p>
        </p:txBody>
      </p:sp>
      <p:sp>
        <p:nvSpPr>
          <p:cNvPr id="398" name="ul"/>
          <p:cNvSpPr/>
          <p:nvPr/>
        </p:nvSpPr>
        <p:spPr>
          <a:xfrm>
            <a:off x="770000" y="1760000"/>
            <a:ext cx="720000" cy="60000"/>
          </a:xfrm>
          <a:prstGeom prst="rect">
            <a:avLst/>
          </a:prstGeom>
          <a:solidFill>
            <a:srgbClr val="5B4BD6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99" name="tx"/>
          <p:cNvSpPr/>
          <p:nvPr/>
        </p:nvSpPr>
        <p:spPr>
          <a:xfrm>
            <a:off x="760000" y="2060000"/>
            <a:ext cx="10672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Valid_Session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으로 slotID 복원 → </a:t>
            </a: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SC_EncryptInit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(new_host.c:2232)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세션 조회 · PIN 만료 · mech 유효성(</a:t>
            </a: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valid_mech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) 검사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encr_mgr_init(...)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— mech·키 핸들을 </a:t>
            </a: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sess-&gt;encr_ctx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에 </a:t>
            </a: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저장만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AES-ECB/CBC 는 이 시점에 토큰으로 내려가지 않음 (호스트 컨텍스트만)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GCM </a:t>
            </a: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t_aes_gcm_init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도 파라미터 검증만 (프록시라 per-init 상태 불필요)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401" name="spine"/>
          <p:cNvSpPr/>
          <p:nvPr/>
        </p:nvSpPr>
        <p:spPr>
          <a:xfrm>
            <a:off x="0" y="0"/>
            <a:ext cx="132000" cy="6858000"/>
          </a:xfrm>
          <a:prstGeom prst="rect">
            <a:avLst/>
          </a:prstGeom>
          <a:solidFill>
            <a:srgbClr val="5B4BD6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402" name="tx"/>
          <p:cNvSpPr/>
          <p:nvPr/>
        </p:nvSpPr>
        <p:spPr>
          <a:xfrm>
            <a:off x="760000" y="360000"/>
            <a:ext cx="106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150" b="1" dirty="0">
                <a:solidFill>
                  <a:srgbClr val="5B4BD6"/>
                </a:solidFill>
                <a:latin typeface="Calibri"/>
                <a:ea typeface="Malgun Gothic"/>
                <a:cs typeface="Calibri"/>
              </a:rPr>
              <a:t>3단계</a:t>
            </a:r>
          </a:p>
        </p:txBody>
      </p:sp>
      <p:sp>
        <p:nvSpPr>
          <p:cNvPr id="403" name="fl"/>
          <p:cNvSpPr/>
          <p:nvPr/>
        </p:nvSpPr>
        <p:spPr>
          <a:xfrm>
            <a:off x="760000" y="6388000"/>
            <a:ext cx="10672000" cy="10000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404" name="tx"/>
          <p:cNvSpPr/>
          <p:nvPr/>
        </p:nvSpPr>
        <p:spPr>
          <a:xfrm>
            <a:off x="760000" y="6438000"/>
            <a:ext cx="997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Token NCMP · STDLL 호출 흐름</a:t>
            </a:r>
          </a:p>
        </p:txBody>
      </p:sp>
      <p:sp>
        <p:nvSpPr>
          <p:cNvPr id="405" name="tx"/>
          <p:cNvSpPr/>
          <p:nvPr/>
        </p:nvSpPr>
        <p:spPr>
          <a:xfrm>
            <a:off x="10732000" y="6438000"/>
            <a:ext cx="7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07</a:t>
            </a:r>
          </a:p>
        </p:txBody>
      </p:sp>
      <p:sp>
        <p:nvSpPr>
          <p:cNvPr id="406" name="tx"/>
          <p:cNvSpPr/>
          <p:nvPr/>
        </p:nvSpPr>
        <p:spPr>
          <a:xfrm>
            <a:off x="760000" y="640000"/>
            <a:ext cx="10672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300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3단계 — C_Encrypt · 실제 토큰 왕복</a:t>
            </a:r>
          </a:p>
        </p:txBody>
      </p:sp>
      <p:sp>
        <p:nvSpPr>
          <p:cNvPr id="407" name="ul"/>
          <p:cNvSpPr/>
          <p:nvPr/>
        </p:nvSpPr>
        <p:spPr>
          <a:xfrm>
            <a:off x="770000" y="1760000"/>
            <a:ext cx="720000" cy="60000"/>
          </a:xfrm>
          <a:prstGeom prst="rect">
            <a:avLst/>
          </a:prstGeom>
          <a:solidFill>
            <a:srgbClr val="5B4BD6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408" name="tx"/>
          <p:cNvSpPr/>
          <p:nvPr/>
        </p:nvSpPr>
        <p:spPr>
          <a:xfrm>
            <a:off x="760000" y="2060000"/>
            <a:ext cx="10672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SC_Encrypt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(2290) → </a:t>
            </a: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encr_mgr_encrypt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→ </a:t>
            </a: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mech_aes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→ </a:t>
            </a: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ckm_aes_ecb_encrypt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token_specific.t_aes_ecb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NULL 확인 후 호출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token_specific_aes_ecb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(ncmp_specific.c:519) 에서 ncmpd 로 나감</a:t>
            </a:r>
          </a:p>
          <a:p>
            <a:pPr marL="620000" indent="-260000" algn="l">
              <a:lnSpc>
                <a:spcPct val="110000"/>
              </a:lnSpc>
              <a:spcBef>
                <a:spcPts val="500"/>
              </a:spcBef>
              <a:buFont typeface="Arial"/>
              <a:buChar char="–"/>
            </a:pPr>
            <a:r>
              <a:rPr lang="ko-KR" sz="140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CKA_VALUE</a:t>
            </a:r>
            <a:r>
              <a:rPr lang="ko-KR" sz="14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 로 키 원문 추출 → parts[flags, key, data]</a:t>
            </a:r>
          </a:p>
          <a:p>
            <a:pPr marL="620000" indent="-260000" algn="l">
              <a:lnSpc>
                <a:spcPct val="110000"/>
              </a:lnSpc>
              <a:spcBef>
                <a:spcPts val="500"/>
              </a:spcBef>
              <a:buFont typeface="Arial"/>
              <a:buChar char="–"/>
            </a:pPr>
            <a:r>
              <a:rPr lang="ko-KR" sz="140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ncmp_client_command_mp(NCMP_CMD_AES_ECB, ...)</a:t>
            </a:r>
            <a:r>
              <a:rPr lang="ko-KR" sz="14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 로 와이어 프레임 전송</a:t>
            </a:r>
          </a:p>
          <a:p>
            <a:pPr marL="620000" indent="-260000" algn="l">
              <a:lnSpc>
                <a:spcPct val="110000"/>
              </a:lnSpc>
              <a:spcBef>
                <a:spcPts val="500"/>
              </a:spcBef>
              <a:buFont typeface="Arial"/>
              <a:buChar char="–"/>
            </a:pPr>
            <a:r>
              <a:rPr lang="ko-KR" sz="14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응답 </a:t>
            </a:r>
            <a:r>
              <a:rPr lang="ko-KR" sz="140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ack</a:t>
            </a:r>
            <a:r>
              <a:rPr lang="ko-KR" sz="14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(CKR_*) → </a:t>
            </a:r>
            <a:r>
              <a:rPr lang="ko-KR" sz="140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CK_RV</a:t>
            </a:r>
            <a:r>
              <a:rPr lang="ko-KR" sz="14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 변환해 역순 전파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410" name="spine"/>
          <p:cNvSpPr/>
          <p:nvPr/>
        </p:nvSpPr>
        <p:spPr>
          <a:xfrm>
            <a:off x="0" y="0"/>
            <a:ext cx="132000" cy="6858000"/>
          </a:xfrm>
          <a:prstGeom prst="rect">
            <a:avLst/>
          </a:prstGeom>
          <a:solidFill>
            <a:srgbClr val="5B4BD6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411" name="tx"/>
          <p:cNvSpPr/>
          <p:nvPr/>
        </p:nvSpPr>
        <p:spPr>
          <a:xfrm>
            <a:off x="760000" y="360000"/>
            <a:ext cx="106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150" b="1" dirty="0">
                <a:solidFill>
                  <a:srgbClr val="5B4BD6"/>
                </a:solidFill>
                <a:latin typeface="Calibri"/>
                <a:ea typeface="Malgun Gothic"/>
                <a:cs typeface="Calibri"/>
              </a:rPr>
              <a:t>정리</a:t>
            </a:r>
          </a:p>
        </p:txBody>
      </p:sp>
      <p:sp>
        <p:nvSpPr>
          <p:cNvPr id="412" name="fl"/>
          <p:cNvSpPr/>
          <p:nvPr/>
        </p:nvSpPr>
        <p:spPr>
          <a:xfrm>
            <a:off x="760000" y="6388000"/>
            <a:ext cx="10672000" cy="10000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413" name="tx"/>
          <p:cNvSpPr/>
          <p:nvPr/>
        </p:nvSpPr>
        <p:spPr>
          <a:xfrm>
            <a:off x="760000" y="6438000"/>
            <a:ext cx="997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Token NCMP · STDLL 호출 흐름</a:t>
            </a:r>
          </a:p>
        </p:txBody>
      </p:sp>
      <p:sp>
        <p:nvSpPr>
          <p:cNvPr id="414" name="tx"/>
          <p:cNvSpPr/>
          <p:nvPr/>
        </p:nvSpPr>
        <p:spPr>
          <a:xfrm>
            <a:off x="10732000" y="6438000"/>
            <a:ext cx="7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08</a:t>
            </a:r>
          </a:p>
        </p:txBody>
      </p:sp>
      <p:sp>
        <p:nvSpPr>
          <p:cNvPr id="415" name="tx"/>
          <p:cNvSpPr/>
          <p:nvPr/>
        </p:nvSpPr>
        <p:spPr>
          <a:xfrm>
            <a:off x="760000" y="640000"/>
            <a:ext cx="10672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300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ncmpd 전송 1홉 &amp; 정리</a:t>
            </a:r>
          </a:p>
        </p:txBody>
      </p:sp>
      <p:sp>
        <p:nvSpPr>
          <p:cNvPr id="416" name="ul"/>
          <p:cNvSpPr/>
          <p:nvPr/>
        </p:nvSpPr>
        <p:spPr>
          <a:xfrm>
            <a:off x="770000" y="1760000"/>
            <a:ext cx="720000" cy="60000"/>
          </a:xfrm>
          <a:prstGeom prst="rect">
            <a:avLst/>
          </a:prstGeom>
          <a:solidFill>
            <a:srgbClr val="5B4BD6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417" name="tx"/>
          <p:cNvSpPr/>
          <p:nvPr/>
        </p:nvSpPr>
        <p:spPr>
          <a:xfrm>
            <a:off x="760000" y="2060000"/>
            <a:ext cx="10672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ncmp_client_command_mp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→ UNIX 소켓 → ncmpd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ncmpd: SHM robust 큐(CAS 상태전이) + 슬롯별 comm 스레드 → USB/mock → FX3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응답은 </a:t>
            </a:r>
            <a:r>
              <a:rPr lang="ko-KR" sz="1750" dirty="0">
                <a:solidFill>
                  <a:srgbClr val="5B4BD6"/>
                </a:solidFill>
                <a:latin typeface="Consolas"/>
                <a:ea typeface="Malgun Gothic"/>
                <a:cs typeface="Consolas"/>
              </a:rPr>
              <a:t>ckm_ → mech_aes → encr_mgr → SC_Encrypt → ST_Encrypt → C_Encrypt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역순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세부(요청 인코딩·MPSC CAS·단발 프레임 수신·in-flight)는 architecture.md §9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소스: api_interface.c · apiutil.c · new_host.c · mech_aes.c · ncmp_specific.c · ncmp_client.c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CMP">
  <a:themeElements>
    <a:clrScheme name="NCMP">
      <a:dk1>
        <a:sysClr val="windowText" lastClr="000000"/>
      </a:dk1>
      <a:lt1>
        <a:sysClr val="window" lastClr="FFFFFF"/>
      </a:lt1>
      <a:dk2>
        <a:srgbClr val="1B1A3A"/>
      </a:dk2>
      <a:lt2>
        <a:srgbClr val="ECF1F6"/>
      </a:lt2>
      <a:accent1>
        <a:srgbClr val="5B4BD6"/>
      </a:accent1>
      <a:accent2>
        <a:srgbClr val="8A7BE8"/>
      </a:accent2>
      <a:accent3>
        <a:srgbClr val="1B1A3A"/>
      </a:accent3>
      <a:accent4>
        <a:srgbClr val="5C6A79"/>
      </a:accent4>
      <a:accent5>
        <a:srgbClr val="5B4BD6"/>
      </a:accent5>
      <a:accent6>
        <a:srgbClr val="8A7BE8"/>
      </a:accent6>
      <a:hlink>
        <a:srgbClr val="5B4BD6"/>
      </a:hlink>
      <a:folHlink>
        <a:srgbClr val="5B4BD6"/>
      </a:folHlink>
    </a:clrScheme>
    <a:fontScheme name="NCMP">
      <a:majorFont>
        <a:latin typeface="Calibri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NCMP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>
            <a:shade val="78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STDLL 호출 흐름</dc:title>
  <dc:creator>Token NCMP</dc:creator>
  <cp:lastModifiedBy>Token NCMP</cp:lastModifiedBy>
  <dcterms:created xsi:type="dcterms:W3CDTF">2026-09-02T12:51:32Z</dcterms:created>
  <dcterms:modified xsi:type="dcterms:W3CDTF">2026-09-02T12:51:32Z</dcterms:modified>
</cp:coreProperties>
</file>